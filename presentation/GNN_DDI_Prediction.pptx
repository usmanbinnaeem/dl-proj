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059669">
                <a:alpha val="9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GCN+MLP</c:v>
                  </c:pt>
                  <c:pt idx="1">
                    <c:v>MLP</c:v>
                  </c:pt>
                  <c:pt idx="2">
                    <c:v>GIN+MLP</c:v>
                  </c:pt>
                  <c:pt idx="3">
                    <c:v>EmerGNN</c:v>
                  </c:pt>
                  <c:pt idx="4">
                    <c:v>GCN+Dot</c:v>
                  </c:pt>
                  <c:pt idx="5">
                    <c:v>GIN+Dot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0.9675</c:v>
                </c:pt>
                <c:pt idx="1">
                  <c:v>0.966</c:v>
                </c:pt>
                <c:pt idx="2">
                  <c:v>0.9606</c:v>
                </c:pt>
                <c:pt idx="3">
                  <c:v>0.934</c:v>
                </c:pt>
                <c:pt idx="4">
                  <c:v>0.8712</c:v>
                </c:pt>
                <c:pt idx="5">
                  <c:v>0.8618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0F172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smanbinnaeem/dl-proj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smanbinnaeem/dl-proj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6400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6400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DEEP LEARNING · PROJECT #10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for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Drug–Drug Interaction Prediction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BioSNAP ChCh-Miner  ·  Link Prediction  ·  OOD Evaluation  ·  MC Dropout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0972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Naeem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25280021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13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Sarmad Ali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25280037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705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25280041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CONFIGURATIONS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512064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5120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5413248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5413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+ Dot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5705856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5705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+ MLP ★ Best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5998464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5998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+ Dot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6291072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6291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 + MLP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DDI Prediction · BioSNAP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6968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is rising — patients on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drugs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simultaneously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DDIs cause adverse events neither drug produces alone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FDA: DDIs cause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~2.8% of all hospital admissions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drugs, the search space is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exhaustive wet-lab screening is infeasible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GRAPH LINK PREDICTION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DDI database as a graph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(V, E)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→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molecular fingerprint features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interactions →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does an unobserved drug pair interact?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210312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321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5212080"/>
            <a:ext cx="210312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5321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80360" y="5715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DDIs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5212080"/>
            <a:ext cx="210312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5321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5715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topology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80960" y="1143000"/>
            <a:ext cx="3931920" cy="5212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PREDICTION TASK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46920" y="2560320"/>
            <a:ext cx="-1417320" cy="1280160"/>
          </a:xfrm>
          <a:prstGeom prst="line">
            <a:avLst/>
          </a:prstGeom>
          <a:noFill/>
          <a:ln w="1905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2560320"/>
            <a:ext cx="1417320" cy="1280160"/>
          </a:xfrm>
          <a:prstGeom prst="line">
            <a:avLst/>
          </a:prstGeom>
          <a:noFill/>
          <a:ln w="1905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840480"/>
            <a:ext cx="1417320" cy="1280160"/>
          </a:xfrm>
          <a:prstGeom prst="line">
            <a:avLst/>
          </a:prstGeom>
          <a:noFill/>
          <a:ln w="1905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3840480"/>
            <a:ext cx="-1417320" cy="1280160"/>
          </a:xfrm>
          <a:prstGeom prst="line">
            <a:avLst/>
          </a:prstGeom>
          <a:noFill/>
          <a:ln w="1905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840480"/>
            <a:ext cx="2834640" cy="0"/>
          </a:xfrm>
          <a:prstGeom prst="line">
            <a:avLst/>
          </a:prstGeom>
          <a:noFill/>
          <a:ln w="1905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2560320"/>
            <a:ext cx="0" cy="2560320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354312" y="2267712"/>
            <a:ext cx="585216" cy="5852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44144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36992" y="3547872"/>
            <a:ext cx="585216" cy="5852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372160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771632" y="3547872"/>
            <a:ext cx="585216" cy="5852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34472" y="372160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54312" y="4828032"/>
            <a:ext cx="585216" cy="5852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500176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5971032"/>
            <a:ext cx="320040" cy="0"/>
          </a:xfrm>
          <a:prstGeom prst="line">
            <a:avLst/>
          </a:prstGeom>
          <a:noFill/>
          <a:ln w="2286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861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DDI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01200" y="5971032"/>
            <a:ext cx="3200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9966960" y="5861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80960" y="6172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dashed candidate edge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DDI Prediction · BioSNAP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6968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BIOSNAP CHCH-MINER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DDI edges mined from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co-administration records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SMILES fetched from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 API, cached locally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features: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2,048-bit Morgan fingerprints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(ECFP4, radius 2) via RDKit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 — 1:1 NEGATIVE SAMPLING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76072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33,456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33,456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4,182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4,182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4,182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4,182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766560" y="1143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766560" y="1463040"/>
            <a:ext cx="233172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157276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1,338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8000" y="209169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nodes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 SMILES)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281160" y="1463040"/>
            <a:ext cx="233172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0" y="157276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41,820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372600" y="209169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2788920"/>
            <a:ext cx="233172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8986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2,048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58000" y="341757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281160" y="2788920"/>
            <a:ext cx="233172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0" y="28986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ECFP4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372600" y="341757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6560" y="4206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949440" y="4526280"/>
            <a:ext cx="1280160" cy="914400"/>
          </a:xfrm>
          <a:prstGeom prst="rect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4599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0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66176" y="4864608"/>
            <a:ext cx="256032" cy="23774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9" name="Shape 26"/>
          <p:cNvSpPr/>
          <p:nvPr/>
        </p:nvSpPr>
        <p:spPr>
          <a:xfrm>
            <a:off x="8549640" y="4526280"/>
            <a:ext cx="1280160" cy="914400"/>
          </a:xfrm>
          <a:prstGeom prst="rect">
            <a:avLst/>
          </a:prstGeom>
          <a:solidFill>
            <a:srgbClr val="F8FAFC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9640" y="4599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549640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Morgan FP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866376" y="4864608"/>
            <a:ext cx="256032" cy="23774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3" name="Shape 30"/>
          <p:cNvSpPr/>
          <p:nvPr/>
        </p:nvSpPr>
        <p:spPr>
          <a:xfrm>
            <a:off x="10149840" y="4526280"/>
            <a:ext cx="1280160" cy="914400"/>
          </a:xfrm>
          <a:prstGeom prst="rect">
            <a:avLst/>
          </a:prstGeom>
          <a:solidFill>
            <a:srgbClr val="F8FAFC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49840" y="4599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x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149840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ℝ²⁰⁴⁸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766560" y="5577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molecular structure to 2,048-dim feature vector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DDI Prediction · BioSNAP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6968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→ DECODER ARCHITECTURE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21792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73152" cy="7132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5361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8288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ℝ²⁰⁴⁸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185416"/>
            <a:ext cx="182880" cy="146304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40864"/>
            <a:ext cx="6217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40864"/>
            <a:ext cx="73152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4140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or GIN Conv₁ + BatchNorm + ReLU + Dropout(0.3)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7066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 → 256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063240"/>
            <a:ext cx="182880" cy="146304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18688"/>
            <a:ext cx="6217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18688"/>
            <a:ext cx="73152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2918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or GIN Conv₂ + BatchNorm + ReLU + Dropout(0.3)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5844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→ 64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3941064"/>
            <a:ext cx="182880" cy="146304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096512"/>
            <a:ext cx="6217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96512"/>
            <a:ext cx="73152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1696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44622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Dot: σ(zᵤᵀzᵥ)   |   MLP: [zᵤ‖zᵥ] → 128 → 64 →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4818888"/>
            <a:ext cx="182880" cy="146304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974336"/>
            <a:ext cx="621792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74336"/>
            <a:ext cx="73152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0474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∈ [0, 1]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53400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 probability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CONFIGURATIONS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7200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on [xᵤ‖xᵥ]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Dot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MLP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 + Dot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 +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7040880" y="3886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040880" y="4206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Cross-Entropy, 1:1 negatives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lr 1e-3 · wd 1e-5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20 on Val AUC, max 150 epochs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 MPS · seed 42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040880" y="5577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OOD PROTOCOL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040880" y="5852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stochastic passes → epistemic std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nodes held out entirely at train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 with Baselines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DDI Prediction · BioSNAP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6968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BENCHMARK — BIOSNAP RANDOM SPLIT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2834640"/>
        </p:xfrm>
        <a:graphic>
          <a:graphicData uri="http://schemas.openxmlformats.org/drawingml/2006/table">
            <a:tbl>
              <a:tblPr/>
              <a:tblGrid>
                <a:gridCol w="2377440"/>
                <a:gridCol w="1325880"/>
                <a:gridCol w="13258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(Non-Relational)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0.9707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0.9660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0.9584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Dot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0.8731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0.8675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MLP 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0.9675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0.9655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 + Dot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0.8957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0.8618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0.8109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 + MLP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0.9634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0.9606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0.9541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EmerGNN 2023 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0.9340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97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Zhang et al. (2023) — published SOTA on BioSNAP DDI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6400800" cy="77724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61772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6177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70432" y="46908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is the dominant factor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70432" y="4983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GCN+MLP (0.968) vs GCN+Dot (0.871) = +0.097 AUC — larger than any encoder gap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6400800" cy="77724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48640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54864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70432" y="55595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published SOTA by +3.4 pp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70432" y="5852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GCN+MLP 0.9675 vs EmerGNN 0.9340 — with a simpler architecture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0" y="1143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+ MLP — KEY METRICS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0" y="1463040"/>
            <a:ext cx="2057400" cy="82296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6092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0.9675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406640" y="19156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555480" y="1463040"/>
            <a:ext cx="2057400" cy="82296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01200" y="1572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0.9655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9646920" y="19156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Avg. Precision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15200" y="2423160"/>
            <a:ext cx="20574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60920" y="2532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0.0156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7406640" y="28757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(calibration)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555480" y="2423160"/>
            <a:ext cx="20574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0" y="2532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0.0518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9646920" y="28757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std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15200" y="3520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— ALL MODELS</a:t>
            </a:r>
            <a:endParaRPr lang="en-US" sz="9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7315200" y="3840480"/>
          <a:ext cx="4297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Generalization &amp; 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· DDI Prediction · BioSNAP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6968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OOD EVALUATION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drug nodes (≈ 200)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Test on edges between unseen drugs only. GNNs aggregate from seen neighbours via inductive message passing.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9436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IID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0.6124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−0.354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 + MLP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0.9675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0.8697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−0.098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657600"/>
            <a:ext cx="594360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65760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6576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5568" y="37124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nearly collapses on OOD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5568" y="398678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purely on molecular features — no graph → 0.612 AUC on cold-start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5943600" cy="68580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434840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434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5568" y="44897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retains 0.870 AUC cold-start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5568" y="476402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topology provides the OOD robustness advantage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5349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— IID VS OOD UNCERTAINTY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5669280"/>
            <a:ext cx="2880360" cy="77724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5779008"/>
            <a:ext cx="2788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0.0160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0080" y="609676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mean std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11880" y="5669280"/>
            <a:ext cx="2880360" cy="77724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5779008"/>
            <a:ext cx="2788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0.0174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703320" y="609676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mean std (1.09×)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58000" y="1143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858000" y="1463040"/>
            <a:ext cx="4754880" cy="713232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95160" y="1627632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49808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&gt; Encoder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9808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decoder adds +0.096 AUC over dot product — non-linear scoring is critical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58000" y="2240280"/>
            <a:ext cx="4754880" cy="71323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95160" y="2404872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699516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498080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GCN+MLP beats SOTA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498080" y="2560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0.9675 vs EmerGNN 0.934 (+3.4 pp) with a simpler architecture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58000" y="3017520"/>
            <a:ext cx="475488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95160" y="3182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0" name="Text 37"/>
          <p:cNvSpPr/>
          <p:nvPr/>
        </p:nvSpPr>
        <p:spPr>
          <a:xfrm>
            <a:off x="69951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498080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GCN at d=64 is optimal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7498080" y="3337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 → over-smoothing (−0.020); larger d → overfitting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858000" y="3794760"/>
            <a:ext cx="4754880" cy="713232"/>
          </a:xfrm>
          <a:prstGeom prst="rect">
            <a:avLst/>
          </a:prstGeom>
          <a:solidFill>
            <a:srgbClr val="ECFE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995160" y="39593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42"/>
          <p:cNvSpPr/>
          <p:nvPr/>
        </p:nvSpPr>
        <p:spPr>
          <a:xfrm>
            <a:off x="69951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498080" y="3840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topology enables OOD robustness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7498080" y="4114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uses seen-neighbour context; MLP cannot generalise to new drugs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858000" y="4572000"/>
            <a:ext cx="4754880" cy="71323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995160" y="4736592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0" name="Text 47"/>
          <p:cNvSpPr/>
          <p:nvPr/>
        </p:nvSpPr>
        <p:spPr>
          <a:xfrm>
            <a:off x="699516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7498080" y="4617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Well-calibrated + uncertainty-aware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7498080" y="4892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= 0.016 · MC Dropout flags risky OOD pairs at deployment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858000" y="5532120"/>
            <a:ext cx="4754880" cy="9144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4" name="Text 51"/>
          <p:cNvSpPr/>
          <p:nvPr/>
        </p:nvSpPr>
        <p:spPr>
          <a:xfrm>
            <a:off x="7040880" y="56692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REPORT</a:t>
            </a:r>
            <a:endParaRPr lang="en-US" sz="900" dirty="0"/>
          </a:p>
        </p:txBody>
      </p:sp>
      <p:sp>
        <p:nvSpPr>
          <p:cNvPr id="55" name="Text 52">
            <a:hlinkClick r:id="rId1" tooltip=""/>
          </p:cNvPr>
          <p:cNvSpPr/>
          <p:nvPr/>
        </p:nvSpPr>
        <p:spPr>
          <a:xfrm>
            <a:off x="7040880" y="59161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github.com/usmanbinnaeem/dl-proj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6400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6400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AI-600 · PROJECT #10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1216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4937760"/>
            <a:ext cx="758952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51206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Naeem  ·  Sarmad Ali  ·  Hammad</a:t>
            </a:r>
            <a:endParaRPr lang="en-US" sz="14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0" y="55321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github.com/usmanbinnaeem/dl-proj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GNN for Drug–Drug Interaction Prediction</dc:title>
  <dc:subject>PptxGenJS Presentation</dc:subject>
  <dc:creator>Usman Naeem, Sarmad Ali, Hammad</dc:creator>
  <cp:lastModifiedBy>Usman Naeem, Sarmad Ali, Hammad</cp:lastModifiedBy>
  <cp:revision>1</cp:revision>
  <dcterms:created xsi:type="dcterms:W3CDTF">2026-05-19T18:17:55Z</dcterms:created>
  <dcterms:modified xsi:type="dcterms:W3CDTF">2026-05-19T18:17:55Z</dcterms:modified>
</cp:coreProperties>
</file>