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Carlito Bold" charset="1" panose="020F0502020204030204"/>
      <p:regular r:id="rId16"/>
    </p:embeddedFont>
    <p:embeddedFont>
      <p:font typeface="Carlito Italics" charset="1" panose="020F0502020204030204"/>
      <p:regular r:id="rId17"/>
    </p:embeddedFont>
    <p:embeddedFont>
      <p:font typeface="Carlito" charset="1" panose="020F050202020403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notesMasters/notesMaster1.xml" Type="http://schemas.openxmlformats.org/officeDocument/2006/relationships/notesMaster"/><Relationship Id="rId14" Target="theme/theme2.xml" Type="http://schemas.openxmlformats.org/officeDocument/2006/relationships/theme"/><Relationship Id="rId15" Target="notesSlides/notesSlide1.xml" Type="http://schemas.openxmlformats.org/officeDocument/2006/relationships/notes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23" Target="notesSlides/notesSlide6.xml" Type="http://schemas.openxmlformats.org/officeDocument/2006/relationships/notesSlide"/><Relationship Id="rId24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https://github.com/usmanbinnaeem/dl-proj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https://github.com/usmanbinnaeem/dl-proj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960120"/>
            <a:ext cx="192024" cy="192024"/>
            <a:chOff x="0" y="0"/>
            <a:chExt cx="256032" cy="2560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99032" y="960120"/>
            <a:ext cx="192024" cy="192024"/>
            <a:chOff x="0" y="0"/>
            <a:chExt cx="256032" cy="25603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37944" y="960120"/>
            <a:ext cx="192024" cy="192024"/>
            <a:chOff x="0" y="0"/>
            <a:chExt cx="256032" cy="25603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698480" y="1028700"/>
            <a:ext cx="6583680" cy="411480"/>
            <a:chOff x="0" y="0"/>
            <a:chExt cx="877824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778240" cy="548640"/>
            </a:xfrm>
            <a:custGeom>
              <a:avLst/>
              <a:gdLst/>
              <a:ahLst/>
              <a:cxnLst/>
              <a:rect r="r" b="b" t="t" l="l"/>
              <a:pathLst>
                <a:path h="54864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77824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b="true" sz="1500" spc="600">
                  <a:solidFill>
                    <a:srgbClr val="94A3B8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AI-600 DEEP LEARNING · PROJECT #10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34440" y="2743200"/>
            <a:ext cx="10972800" cy="480060"/>
            <a:chOff x="0" y="0"/>
            <a:chExt cx="14630400" cy="640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463040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750">
                  <a:solidFill>
                    <a:srgbClr val="3B82F6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RESEARCH PRESENTATION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34440" y="3360420"/>
            <a:ext cx="15773400" cy="1362373"/>
            <a:chOff x="0" y="0"/>
            <a:chExt cx="21031200" cy="181649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031200" cy="1816497"/>
            </a:xfrm>
            <a:custGeom>
              <a:avLst/>
              <a:gdLst/>
              <a:ahLst/>
              <a:cxnLst/>
              <a:rect r="r" b="b" t="t" l="l"/>
              <a:pathLst>
                <a:path h="181649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16497"/>
                  </a:lnTo>
                  <a:lnTo>
                    <a:pt x="0" y="18164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773" r="0" b="-17341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42875"/>
              <a:ext cx="21031200" cy="1959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F1F5F9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Graph Neural Networks for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34440" y="4594860"/>
            <a:ext cx="15773400" cy="1362373"/>
            <a:chOff x="0" y="0"/>
            <a:chExt cx="21031200" cy="181649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031200" cy="1816497"/>
            </a:xfrm>
            <a:custGeom>
              <a:avLst/>
              <a:gdLst/>
              <a:ahLst/>
              <a:cxnLst/>
              <a:rect r="r" b="b" t="t" l="l"/>
              <a:pathLst>
                <a:path h="181649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16497"/>
                  </a:lnTo>
                  <a:lnTo>
                    <a:pt x="0" y="18164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773" r="0" b="-17341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42875"/>
              <a:ext cx="21031200" cy="1959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3B82F6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Drug–Drug Interaction Prediction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34440" y="6103620"/>
            <a:ext cx="15773400" cy="548640"/>
            <a:chOff x="0" y="0"/>
            <a:chExt cx="2103120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03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0194" r="0" b="-51019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210312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i="true">
                  <a:solidFill>
                    <a:srgbClr val="94A3B8"/>
                  </a:solidFill>
                  <a:latin typeface="Carlito Italics"/>
                  <a:ea typeface="Carlito Italics"/>
                  <a:cs typeface="Carlito Italics"/>
                  <a:sym typeface="Carlito Italics"/>
                </a:rPr>
                <a:t>BioSNAP ChCh-Miner  ·  Link Prediction  ·  OOD Evaluation  ·  MC Dropout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34440" y="6995160"/>
            <a:ext cx="1645920" cy="41148"/>
            <a:chOff x="0" y="0"/>
            <a:chExt cx="2194560" cy="5486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94560" cy="54864"/>
            </a:xfrm>
            <a:custGeom>
              <a:avLst/>
              <a:gdLst/>
              <a:ahLst/>
              <a:cxnLst/>
              <a:rect r="r" b="b" t="t" l="l"/>
              <a:pathLst>
                <a:path h="54864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4864"/>
                  </a:lnTo>
                  <a:lnTo>
                    <a:pt x="0" y="54864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34440" y="7269480"/>
            <a:ext cx="5486400" cy="411480"/>
            <a:chOff x="0" y="0"/>
            <a:chExt cx="7315200" cy="548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1520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7315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450">
                  <a:solidFill>
                    <a:srgbClr val="94A3B8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AUTHORS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34440" y="7680960"/>
            <a:ext cx="6858000" cy="438912"/>
            <a:chOff x="0" y="0"/>
            <a:chExt cx="9144000" cy="58521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144000" cy="585216"/>
            </a:xfrm>
            <a:custGeom>
              <a:avLst/>
              <a:gdLst/>
              <a:ahLst/>
              <a:cxnLst/>
              <a:rect r="r" b="b" t="t" l="l"/>
              <a:pathLst>
                <a:path h="585216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453" r="0" b="-25445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91440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1F5F9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Usman Naeem</a:t>
              </a:r>
              <a:r>
                <a:rPr lang="en-US" sz="2100">
                  <a:solidFill>
                    <a:srgbClr val="94A3B8"/>
                  </a:solidFill>
                  <a:latin typeface="Carlito"/>
                  <a:ea typeface="Carlito"/>
                  <a:cs typeface="Carlito"/>
                  <a:sym typeface="Carlito"/>
                </a:rPr>
                <a:t>  25280021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34440" y="8119872"/>
            <a:ext cx="6858000" cy="438912"/>
            <a:chOff x="0" y="0"/>
            <a:chExt cx="9144000" cy="58521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0" cy="585216"/>
            </a:xfrm>
            <a:custGeom>
              <a:avLst/>
              <a:gdLst/>
              <a:ahLst/>
              <a:cxnLst/>
              <a:rect r="r" b="b" t="t" l="l"/>
              <a:pathLst>
                <a:path h="585216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453" r="0" b="-25445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91440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1F5F9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Sarmad Ali</a:t>
              </a:r>
              <a:r>
                <a:rPr lang="en-US" sz="2100">
                  <a:solidFill>
                    <a:srgbClr val="94A3B8"/>
                  </a:solidFill>
                  <a:latin typeface="Carlito"/>
                  <a:ea typeface="Carlito"/>
                  <a:cs typeface="Carlito"/>
                  <a:sym typeface="Carlito"/>
                </a:rPr>
                <a:t>    25280037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34440" y="8558784"/>
            <a:ext cx="6858000" cy="438912"/>
            <a:chOff x="0" y="0"/>
            <a:chExt cx="9144000" cy="58521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144000" cy="585216"/>
            </a:xfrm>
            <a:custGeom>
              <a:avLst/>
              <a:gdLst/>
              <a:ahLst/>
              <a:cxnLst/>
              <a:rect r="r" b="b" t="t" l="l"/>
              <a:pathLst>
                <a:path h="585216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453" r="0" b="-25445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91440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1F5F9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Hammad</a:t>
              </a:r>
              <a:r>
                <a:rPr lang="en-US" sz="2100">
                  <a:solidFill>
                    <a:srgbClr val="94A3B8"/>
                  </a:solidFill>
                  <a:latin typeface="Carlito"/>
                  <a:ea typeface="Carlito"/>
                  <a:cs typeface="Carlito"/>
                  <a:sym typeface="Carlito"/>
                </a:rPr>
                <a:t>        25280041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384280" y="7269480"/>
            <a:ext cx="6172200" cy="411480"/>
            <a:chOff x="0" y="0"/>
            <a:chExt cx="8229600" cy="5486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229600" cy="548640"/>
            </a:xfrm>
            <a:custGeom>
              <a:avLst/>
              <a:gdLst/>
              <a:ahLst/>
              <a:cxnLst/>
              <a:rect r="r" b="b" t="t" l="l"/>
              <a:pathLst>
                <a:path h="54864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82296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450">
                  <a:solidFill>
                    <a:srgbClr val="94A3B8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FIVE MODEL CONFIGURATIONS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1377136" y="7673816"/>
            <a:ext cx="4814888" cy="398336"/>
            <a:chOff x="0" y="0"/>
            <a:chExt cx="6419850" cy="53111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419850" cy="531114"/>
            </a:xfrm>
            <a:custGeom>
              <a:avLst/>
              <a:gdLst/>
              <a:ahLst/>
              <a:cxnLst/>
              <a:rect r="r" b="b" t="t" l="l"/>
              <a:pathLst>
                <a:path h="531114" w="6419850">
                  <a:moveTo>
                    <a:pt x="0" y="94869"/>
                  </a:moveTo>
                  <a:cubicBezTo>
                    <a:pt x="0" y="42418"/>
                    <a:pt x="42418" y="0"/>
                    <a:pt x="94869" y="0"/>
                  </a:cubicBezTo>
                  <a:lnTo>
                    <a:pt x="6324981" y="0"/>
                  </a:lnTo>
                  <a:cubicBezTo>
                    <a:pt x="6377305" y="0"/>
                    <a:pt x="6419850" y="42418"/>
                    <a:pt x="6419850" y="94869"/>
                  </a:cubicBezTo>
                  <a:lnTo>
                    <a:pt x="6419850" y="436245"/>
                  </a:lnTo>
                  <a:cubicBezTo>
                    <a:pt x="6419850" y="488569"/>
                    <a:pt x="6377432" y="531114"/>
                    <a:pt x="6324981" y="531114"/>
                  </a:cubicBezTo>
                  <a:lnTo>
                    <a:pt x="94869" y="531114"/>
                  </a:lnTo>
                  <a:cubicBezTo>
                    <a:pt x="42418" y="531114"/>
                    <a:pt x="0" y="488696"/>
                    <a:pt x="0" y="436245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1521440" y="7680960"/>
            <a:ext cx="4663440" cy="384048"/>
            <a:chOff x="0" y="0"/>
            <a:chExt cx="6217920" cy="51206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217920" cy="512064"/>
            </a:xfrm>
            <a:custGeom>
              <a:avLst/>
              <a:gdLst/>
              <a:ahLst/>
              <a:cxnLst/>
              <a:rect r="r" b="b" t="t" l="l"/>
              <a:pathLst>
                <a:path h="512064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604" r="0" b="-186604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621792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1F5F9"/>
                  </a:solidFill>
                  <a:latin typeface="Carlito"/>
                  <a:ea typeface="Carlito"/>
                  <a:cs typeface="Carlito"/>
                  <a:sym typeface="Carlito"/>
                </a:rPr>
                <a:t>MLP Baseline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377136" y="8112728"/>
            <a:ext cx="4814888" cy="398336"/>
            <a:chOff x="0" y="0"/>
            <a:chExt cx="6419850" cy="53111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419850" cy="531114"/>
            </a:xfrm>
            <a:custGeom>
              <a:avLst/>
              <a:gdLst/>
              <a:ahLst/>
              <a:cxnLst/>
              <a:rect r="r" b="b" t="t" l="l"/>
              <a:pathLst>
                <a:path h="531114" w="6419850">
                  <a:moveTo>
                    <a:pt x="0" y="94869"/>
                  </a:moveTo>
                  <a:cubicBezTo>
                    <a:pt x="0" y="42418"/>
                    <a:pt x="42418" y="0"/>
                    <a:pt x="94869" y="0"/>
                  </a:cubicBezTo>
                  <a:lnTo>
                    <a:pt x="6324981" y="0"/>
                  </a:lnTo>
                  <a:cubicBezTo>
                    <a:pt x="6377305" y="0"/>
                    <a:pt x="6419850" y="42418"/>
                    <a:pt x="6419850" y="94869"/>
                  </a:cubicBezTo>
                  <a:lnTo>
                    <a:pt x="6419850" y="436245"/>
                  </a:lnTo>
                  <a:cubicBezTo>
                    <a:pt x="6419850" y="488569"/>
                    <a:pt x="6377432" y="531114"/>
                    <a:pt x="6324981" y="531114"/>
                  </a:cubicBezTo>
                  <a:lnTo>
                    <a:pt x="94869" y="531114"/>
                  </a:lnTo>
                  <a:cubicBezTo>
                    <a:pt x="42418" y="531114"/>
                    <a:pt x="0" y="488696"/>
                    <a:pt x="0" y="436245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1521440" y="8119872"/>
            <a:ext cx="4663440" cy="384048"/>
            <a:chOff x="0" y="0"/>
            <a:chExt cx="6217920" cy="51206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217920" cy="512064"/>
            </a:xfrm>
            <a:custGeom>
              <a:avLst/>
              <a:gdLst/>
              <a:ahLst/>
              <a:cxnLst/>
              <a:rect r="r" b="b" t="t" l="l"/>
              <a:pathLst>
                <a:path h="512064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604" r="0" b="-18660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621792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1F5F9"/>
                  </a:solidFill>
                  <a:latin typeface="Carlito"/>
                  <a:ea typeface="Carlito"/>
                  <a:cs typeface="Carlito"/>
                  <a:sym typeface="Carlito"/>
                </a:rPr>
                <a:t>GCN + Dot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1377136" y="8551640"/>
            <a:ext cx="4814888" cy="398336"/>
            <a:chOff x="0" y="0"/>
            <a:chExt cx="6419850" cy="53111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419850" cy="531114"/>
            </a:xfrm>
            <a:custGeom>
              <a:avLst/>
              <a:gdLst/>
              <a:ahLst/>
              <a:cxnLst/>
              <a:rect r="r" b="b" t="t" l="l"/>
              <a:pathLst>
                <a:path h="531114" w="6419850">
                  <a:moveTo>
                    <a:pt x="0" y="94869"/>
                  </a:moveTo>
                  <a:cubicBezTo>
                    <a:pt x="0" y="42418"/>
                    <a:pt x="42418" y="0"/>
                    <a:pt x="94869" y="0"/>
                  </a:cubicBezTo>
                  <a:lnTo>
                    <a:pt x="6324981" y="0"/>
                  </a:lnTo>
                  <a:cubicBezTo>
                    <a:pt x="6377305" y="0"/>
                    <a:pt x="6419850" y="42418"/>
                    <a:pt x="6419850" y="94869"/>
                  </a:cubicBezTo>
                  <a:lnTo>
                    <a:pt x="6419850" y="436245"/>
                  </a:lnTo>
                  <a:cubicBezTo>
                    <a:pt x="6419850" y="488569"/>
                    <a:pt x="6377432" y="531114"/>
                    <a:pt x="6324981" y="531114"/>
                  </a:cubicBezTo>
                  <a:lnTo>
                    <a:pt x="94869" y="531114"/>
                  </a:lnTo>
                  <a:cubicBezTo>
                    <a:pt x="42418" y="531114"/>
                    <a:pt x="0" y="488696"/>
                    <a:pt x="0" y="436245"/>
                  </a:cubicBezTo>
                  <a:close/>
                </a:path>
              </a:pathLst>
            </a:custGeom>
            <a:solidFill>
              <a:srgbClr val="064E3B"/>
            </a:solidFill>
            <a:ln w="14288" cap="sq">
              <a:solidFill>
                <a:srgbClr val="10B981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1521440" y="8558784"/>
            <a:ext cx="4663440" cy="384048"/>
            <a:chOff x="0" y="0"/>
            <a:chExt cx="6217920" cy="51206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217920" cy="512064"/>
            </a:xfrm>
            <a:custGeom>
              <a:avLst/>
              <a:gdLst/>
              <a:ahLst/>
              <a:cxnLst/>
              <a:rect r="r" b="b" t="t" l="l"/>
              <a:pathLst>
                <a:path h="512064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604" r="0" b="-18660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621792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0B981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GCN + MLP ★ Best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1377136" y="8990552"/>
            <a:ext cx="4814888" cy="398336"/>
            <a:chOff x="0" y="0"/>
            <a:chExt cx="6419850" cy="53111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419850" cy="531114"/>
            </a:xfrm>
            <a:custGeom>
              <a:avLst/>
              <a:gdLst/>
              <a:ahLst/>
              <a:cxnLst/>
              <a:rect r="r" b="b" t="t" l="l"/>
              <a:pathLst>
                <a:path h="531114" w="6419850">
                  <a:moveTo>
                    <a:pt x="0" y="94869"/>
                  </a:moveTo>
                  <a:cubicBezTo>
                    <a:pt x="0" y="42418"/>
                    <a:pt x="42418" y="0"/>
                    <a:pt x="94869" y="0"/>
                  </a:cubicBezTo>
                  <a:lnTo>
                    <a:pt x="6324981" y="0"/>
                  </a:lnTo>
                  <a:cubicBezTo>
                    <a:pt x="6377305" y="0"/>
                    <a:pt x="6419850" y="42418"/>
                    <a:pt x="6419850" y="94869"/>
                  </a:cubicBezTo>
                  <a:lnTo>
                    <a:pt x="6419850" y="436245"/>
                  </a:lnTo>
                  <a:cubicBezTo>
                    <a:pt x="6419850" y="488569"/>
                    <a:pt x="6377432" y="531114"/>
                    <a:pt x="6324981" y="531114"/>
                  </a:cubicBezTo>
                  <a:lnTo>
                    <a:pt x="94869" y="531114"/>
                  </a:lnTo>
                  <a:cubicBezTo>
                    <a:pt x="42418" y="531114"/>
                    <a:pt x="0" y="488696"/>
                    <a:pt x="0" y="436245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1521440" y="8997696"/>
            <a:ext cx="4663440" cy="384048"/>
            <a:chOff x="0" y="0"/>
            <a:chExt cx="6217920" cy="51206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217920" cy="512064"/>
            </a:xfrm>
            <a:custGeom>
              <a:avLst/>
              <a:gdLst/>
              <a:ahLst/>
              <a:cxnLst/>
              <a:rect r="r" b="b" t="t" l="l"/>
              <a:pathLst>
                <a:path h="512064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604" r="0" b="-18660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28575"/>
              <a:ext cx="621792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1F5F9"/>
                  </a:solidFill>
                  <a:latin typeface="Carlito"/>
                  <a:ea typeface="Carlito"/>
                  <a:cs typeface="Carlito"/>
                  <a:sym typeface="Carlito"/>
                </a:rPr>
                <a:t>GIN + Dot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1377136" y="9429464"/>
            <a:ext cx="4814888" cy="398336"/>
            <a:chOff x="0" y="0"/>
            <a:chExt cx="6419850" cy="53111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419850" cy="531114"/>
            </a:xfrm>
            <a:custGeom>
              <a:avLst/>
              <a:gdLst/>
              <a:ahLst/>
              <a:cxnLst/>
              <a:rect r="r" b="b" t="t" l="l"/>
              <a:pathLst>
                <a:path h="531114" w="6419850">
                  <a:moveTo>
                    <a:pt x="0" y="94869"/>
                  </a:moveTo>
                  <a:cubicBezTo>
                    <a:pt x="0" y="42418"/>
                    <a:pt x="42418" y="0"/>
                    <a:pt x="94869" y="0"/>
                  </a:cubicBezTo>
                  <a:lnTo>
                    <a:pt x="6324981" y="0"/>
                  </a:lnTo>
                  <a:cubicBezTo>
                    <a:pt x="6377305" y="0"/>
                    <a:pt x="6419850" y="42418"/>
                    <a:pt x="6419850" y="94869"/>
                  </a:cubicBezTo>
                  <a:lnTo>
                    <a:pt x="6419850" y="436245"/>
                  </a:lnTo>
                  <a:cubicBezTo>
                    <a:pt x="6419850" y="488569"/>
                    <a:pt x="6377432" y="531114"/>
                    <a:pt x="6324981" y="531114"/>
                  </a:cubicBezTo>
                  <a:lnTo>
                    <a:pt x="94869" y="531114"/>
                  </a:lnTo>
                  <a:cubicBezTo>
                    <a:pt x="42418" y="531114"/>
                    <a:pt x="0" y="488696"/>
                    <a:pt x="0" y="436245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1521440" y="9436608"/>
            <a:ext cx="4663440" cy="384048"/>
            <a:chOff x="0" y="0"/>
            <a:chExt cx="6217920" cy="51206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217920" cy="512064"/>
            </a:xfrm>
            <a:custGeom>
              <a:avLst/>
              <a:gdLst/>
              <a:ahLst/>
              <a:cxnLst/>
              <a:rect r="r" b="b" t="t" l="l"/>
              <a:pathLst>
                <a:path h="512064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604" r="0" b="-18660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621792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1F5F9"/>
                  </a:solidFill>
                  <a:latin typeface="Carlito"/>
                  <a:ea typeface="Carlito"/>
                  <a:cs typeface="Carlito"/>
                  <a:sym typeface="Carlito"/>
                </a:rPr>
                <a:t>GIN + MLP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34440" y="9601200"/>
            <a:ext cx="5486400" cy="411480"/>
            <a:chOff x="0" y="0"/>
            <a:chExt cx="7315200" cy="5486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31520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7315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4A3B8"/>
                  </a:solidFill>
                  <a:latin typeface="Carlito"/>
                  <a:ea typeface="Carlito"/>
                  <a:cs typeface="Carlito"/>
                  <a:sym typeface="Carlito"/>
                </a:rPr>
                <a:t>May 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3435" y="744855"/>
            <a:ext cx="265938" cy="265938"/>
            <a:chOff x="0" y="0"/>
            <a:chExt cx="354584" cy="3545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1E3A8A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184880" y="685800"/>
            <a:ext cx="1371600" cy="411480"/>
            <a:chOff x="0" y="0"/>
            <a:chExt cx="1828800" cy="5486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82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b="true" sz="1650" spc="300">
                  <a:solidFill>
                    <a:srgbClr val="0F172A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01</a:t>
              </a:r>
              <a:r>
                <a:rPr lang="en-US" sz="1650" spc="300">
                  <a:solidFill>
                    <a:srgbClr val="64748B"/>
                  </a:solidFill>
                  <a:latin typeface="Carlito"/>
                  <a:ea typeface="Carlito"/>
                  <a:cs typeface="Carlito"/>
                  <a:sym typeface="Carlito"/>
                </a:rPr>
                <a:t> / 05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34440" y="576072"/>
            <a:ext cx="14813280" cy="793924"/>
            <a:chOff x="0" y="0"/>
            <a:chExt cx="19751040" cy="10585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751039" cy="1058565"/>
            </a:xfrm>
            <a:custGeom>
              <a:avLst/>
              <a:gdLst/>
              <a:ahLst/>
              <a:cxnLst/>
              <a:rect r="r" b="b" t="t" l="l"/>
              <a:pathLst>
                <a:path h="1058565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1058565"/>
                  </a:lnTo>
                  <a:lnTo>
                    <a:pt x="0" y="1058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6048" r="0" b="-31106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19751040" cy="1144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F172A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Problem Statement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9710928"/>
            <a:ext cx="8229600" cy="342900"/>
            <a:chOff x="0" y="0"/>
            <a:chExt cx="10972800" cy="457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457200"/>
            </a:xfrm>
            <a:custGeom>
              <a:avLst/>
              <a:gdLst/>
              <a:ahLst/>
              <a:cxnLst/>
              <a:rect r="r" b="b" t="t" l="l"/>
              <a:pathLst>
                <a:path h="4572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0972800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80"/>
                </a:lnSpc>
              </a:pPr>
              <a:r>
                <a:rPr lang="en-US" sz="1400" spc="155">
                  <a:solidFill>
                    <a:srgbClr val="64748B"/>
                  </a:solidFill>
                  <a:latin typeface="Carlito"/>
                  <a:ea typeface="Carlito"/>
                  <a:cs typeface="Carlito"/>
                  <a:sym typeface="Carlito"/>
                </a:rPr>
                <a:t>GNN · DDI Prediction · BioSNAP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304520" y="9710928"/>
            <a:ext cx="4114800" cy="342900"/>
            <a:chOff x="0" y="0"/>
            <a:chExt cx="5486400" cy="457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486400" cy="457200"/>
            </a:xfrm>
            <a:custGeom>
              <a:avLst/>
              <a:gdLst/>
              <a:ahLst/>
              <a:cxnLst/>
              <a:rect r="r" b="b" t="t" l="l"/>
              <a:pathLst>
                <a:path h="4572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5486400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80"/>
                </a:lnSpc>
              </a:pPr>
              <a:r>
                <a:rPr lang="en-US" sz="1400">
                  <a:solidFill>
                    <a:srgbClr val="64748B"/>
                  </a:solidFill>
                  <a:latin typeface="Carlito"/>
                  <a:ea typeface="Carlito"/>
                  <a:cs typeface="Carlito"/>
                  <a:sym typeface="Carlito"/>
                </a:rPr>
                <a:t>AI-600 · Project #10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1714500"/>
            <a:ext cx="10012680" cy="414957"/>
            <a:chOff x="0" y="0"/>
            <a:chExt cx="13350240" cy="55327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350239" cy="553276"/>
            </a:xfrm>
            <a:custGeom>
              <a:avLst/>
              <a:gdLst/>
              <a:ahLst/>
              <a:cxnLst/>
              <a:rect r="r" b="b" t="t" l="l"/>
              <a:pathLst>
                <a:path h="553276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553276"/>
                  </a:lnTo>
                  <a:lnTo>
                    <a:pt x="0" y="5532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3887" r="0" b="-41643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3350240" cy="6009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694">
                  <a:solidFill>
                    <a:srgbClr val="1E3A8A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THE CHALLENGE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2194560"/>
            <a:ext cx="10012680" cy="2468880"/>
            <a:chOff x="0" y="0"/>
            <a:chExt cx="13350240" cy="3291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350239" cy="3291840"/>
            </a:xfrm>
            <a:custGeom>
              <a:avLst/>
              <a:gdLst/>
              <a:ahLst/>
              <a:cxnLst/>
              <a:rect r="r" b="b" t="t" l="l"/>
              <a:pathLst>
                <a:path h="3291840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22" r="0" b="-2902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3350240" cy="3339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F172A"/>
                  </a:solidFill>
                  <a:latin typeface="Carlito"/>
                  <a:ea typeface="Carlito"/>
                  <a:cs typeface="Carlito"/>
                  <a:sym typeface="Carlito"/>
                </a:rPr>
                <a:t>Polypharmacy is rising — patients on </a:t>
              </a:r>
              <a:r>
                <a:rPr lang="en-US" sz="2100" b="true">
                  <a:solidFill>
                    <a:srgbClr val="0F172A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multiple drugs</a:t>
              </a:r>
              <a:r>
                <a:rPr lang="en-US" sz="2100">
                  <a:solidFill>
                    <a:srgbClr val="0F172A"/>
                  </a:solidFill>
                  <a:latin typeface="Carlito"/>
                  <a:ea typeface="Carlito"/>
                  <a:cs typeface="Carlito"/>
                  <a:sym typeface="Carlito"/>
                </a:rPr>
                <a:t> simultaneously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F172A"/>
                  </a:solidFill>
                  <a:latin typeface="Carlito"/>
                  <a:ea typeface="Carlito"/>
                  <a:cs typeface="Carlito"/>
                  <a:sym typeface="Carlito"/>
                </a:rPr>
                <a:t>DDIs cause adverse events neither drug produces alone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F172A"/>
                  </a:solidFill>
                  <a:latin typeface="Carlito"/>
                  <a:ea typeface="Carlito"/>
                  <a:cs typeface="Carlito"/>
                  <a:sym typeface="Carlito"/>
                </a:rPr>
                <a:t>FDA: DDIs cause </a:t>
              </a:r>
              <a:r>
                <a:rPr lang="en-US" sz="2100" b="true">
                  <a:solidFill>
                    <a:srgbClr val="0F172A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~2.8% of all hospital admissions</a:t>
              </a:r>
              <a:r>
                <a:rPr lang="en-US" sz="2100">
                  <a:solidFill>
                    <a:srgbClr val="0F172A"/>
                  </a:solidFill>
                  <a:latin typeface="Carlito"/>
                  <a:ea typeface="Carlito"/>
                  <a:cs typeface="Carlito"/>
                  <a:sym typeface="Carlito"/>
                </a:rPr>
                <a:t> annually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F172A"/>
                  </a:solidFill>
                  <a:latin typeface="Carlito"/>
                  <a:ea typeface="Carlito"/>
                  <a:cs typeface="Carlito"/>
                  <a:sym typeface="Carlito"/>
                </a:rPr>
                <a:t>With N drugs, the search space is </a:t>
              </a:r>
              <a:r>
                <a:rPr lang="en-US" sz="2100" b="true">
                  <a:solidFill>
                    <a:srgbClr val="0F172A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O(N²)</a:t>
              </a:r>
              <a:r>
                <a:rPr lang="en-US" sz="2100">
                  <a:solidFill>
                    <a:srgbClr val="0F172A"/>
                  </a:solidFill>
                  <a:latin typeface="Carlito"/>
                  <a:ea typeface="Carlito"/>
                  <a:cs typeface="Carlito"/>
                  <a:sym typeface="Carlito"/>
                </a:rPr>
                <a:t> — exhaustive wet-lab screening is infeasible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22960" y="4800600"/>
            <a:ext cx="10012680" cy="414958"/>
            <a:chOff x="0" y="0"/>
            <a:chExt cx="13350240" cy="55327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350239" cy="553277"/>
            </a:xfrm>
            <a:custGeom>
              <a:avLst/>
              <a:gdLst/>
              <a:ahLst/>
              <a:cxnLst/>
              <a:rect r="r" b="b" t="t" l="l"/>
              <a:pathLst>
                <a:path h="553277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553277"/>
                  </a:lnTo>
                  <a:lnTo>
                    <a:pt x="0" y="5532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3886" r="0" b="-41643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3350240" cy="600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694">
                  <a:solidFill>
                    <a:srgbClr val="0891B2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OUR APPROACH — GRAPH LINK PREDICTION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22960" y="5280660"/>
            <a:ext cx="10012680" cy="2125980"/>
            <a:chOff x="0" y="0"/>
            <a:chExt cx="13350240" cy="2834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350239" cy="2834640"/>
            </a:xfrm>
            <a:custGeom>
              <a:avLst/>
              <a:gdLst/>
              <a:ahLst/>
              <a:cxnLst/>
              <a:rect r="r" b="b" t="t" l="l"/>
              <a:pathLst>
                <a:path h="2834640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2834640"/>
                  </a:lnTo>
                  <a:lnTo>
                    <a:pt x="0" y="2834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8" r="0" b="-4176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13350240" cy="2882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F172A"/>
                  </a:solidFill>
                  <a:latin typeface="Carlito"/>
                  <a:ea typeface="Carlito"/>
                  <a:cs typeface="Carlito"/>
                  <a:sym typeface="Carlito"/>
                </a:rPr>
                <a:t>Represent the DDI database as a graph </a:t>
              </a:r>
              <a:r>
                <a:rPr lang="en-US" sz="2100" b="true">
                  <a:solidFill>
                    <a:srgbClr val="0F172A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G = (V, E)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F172A"/>
                  </a:solidFill>
                  <a:latin typeface="Carlito"/>
                  <a:ea typeface="Carlito"/>
                  <a:cs typeface="Carlito"/>
                  <a:sym typeface="Carlito"/>
                </a:rPr>
                <a:t>Drugs → </a:t>
              </a:r>
              <a:r>
                <a:rPr lang="en-US" sz="2100" b="true">
                  <a:solidFill>
                    <a:srgbClr val="0F172A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nodes</a:t>
              </a:r>
              <a:r>
                <a:rPr lang="en-US" sz="2100">
                  <a:solidFill>
                    <a:srgbClr val="0F172A"/>
                  </a:solidFill>
                  <a:latin typeface="Carlito"/>
                  <a:ea typeface="Carlito"/>
                  <a:cs typeface="Carlito"/>
                  <a:sym typeface="Carlito"/>
                </a:rPr>
                <a:t> with molecular fingerprint features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F172A"/>
                  </a:solidFill>
                  <a:latin typeface="Carlito"/>
                  <a:ea typeface="Carlito"/>
                  <a:cs typeface="Carlito"/>
                  <a:sym typeface="Carlito"/>
                </a:rPr>
                <a:t>Known interactions → </a:t>
              </a:r>
              <a:r>
                <a:rPr lang="en-US" sz="2100" b="true">
                  <a:solidFill>
                    <a:srgbClr val="0F172A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edges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F172A"/>
                  </a:solidFill>
                  <a:latin typeface="Carlito"/>
                  <a:ea typeface="Carlito"/>
                  <a:cs typeface="Carlito"/>
                  <a:sym typeface="Carlito"/>
                </a:rPr>
                <a:t>Predict: does an unobserved drug pair interact?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15816" y="7810976"/>
            <a:ext cx="3168967" cy="1385888"/>
            <a:chOff x="0" y="0"/>
            <a:chExt cx="4225290" cy="18478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225290" cy="1847850"/>
            </a:xfrm>
            <a:custGeom>
              <a:avLst/>
              <a:gdLst/>
              <a:ahLst/>
              <a:cxnLst/>
              <a:rect r="r" b="b" t="t" l="l"/>
              <a:pathLst>
                <a:path h="1847850" w="4225290">
                  <a:moveTo>
                    <a:pt x="0" y="0"/>
                  </a:moveTo>
                  <a:lnTo>
                    <a:pt x="4225290" y="0"/>
                  </a:lnTo>
                  <a:lnTo>
                    <a:pt x="4225290" y="1847850"/>
                  </a:lnTo>
                  <a:lnTo>
                    <a:pt x="0" y="1847850"/>
                  </a:ln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891540" y="7982712"/>
            <a:ext cx="3017520" cy="604441"/>
            <a:chOff x="0" y="0"/>
            <a:chExt cx="4023360" cy="80592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023360" cy="805921"/>
            </a:xfrm>
            <a:custGeom>
              <a:avLst/>
              <a:gdLst/>
              <a:ahLst/>
              <a:cxnLst/>
              <a:rect r="r" b="b" t="t" l="l"/>
              <a:pathLst>
                <a:path h="805921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805921"/>
                  </a:lnTo>
                  <a:lnTo>
                    <a:pt x="0" y="8059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544" r="0" b="-5400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4023360" cy="86307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1E3A8A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O(N²)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960120" y="8572881"/>
            <a:ext cx="288036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64748B"/>
                </a:solidFill>
                <a:latin typeface="Carlito"/>
                <a:ea typeface="Carlito"/>
                <a:cs typeface="Carlito"/>
                <a:sym typeface="Carlito"/>
              </a:rPr>
              <a:t>Interaction</a:t>
            </a:r>
          </a:p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64748B"/>
                </a:solidFill>
                <a:latin typeface="Carlito"/>
                <a:ea typeface="Carlito"/>
                <a:cs typeface="Carlito"/>
                <a:sym typeface="Carlito"/>
              </a:rPr>
              <a:t>search space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4176236" y="7810976"/>
            <a:ext cx="3168967" cy="1385888"/>
            <a:chOff x="0" y="0"/>
            <a:chExt cx="4225290" cy="18478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225290" cy="1847850"/>
            </a:xfrm>
            <a:custGeom>
              <a:avLst/>
              <a:gdLst/>
              <a:ahLst/>
              <a:cxnLst/>
              <a:rect r="r" b="b" t="t" l="l"/>
              <a:pathLst>
                <a:path h="1847850" w="4225290">
                  <a:moveTo>
                    <a:pt x="0" y="0"/>
                  </a:moveTo>
                  <a:lnTo>
                    <a:pt x="4225290" y="0"/>
                  </a:lnTo>
                  <a:lnTo>
                    <a:pt x="4225290" y="1847850"/>
                  </a:lnTo>
                  <a:lnTo>
                    <a:pt x="0" y="1847850"/>
                  </a:ln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4251960" y="7982712"/>
            <a:ext cx="3017520" cy="604441"/>
            <a:chOff x="0" y="0"/>
            <a:chExt cx="4023360" cy="80592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023360" cy="805921"/>
            </a:xfrm>
            <a:custGeom>
              <a:avLst/>
              <a:gdLst/>
              <a:ahLst/>
              <a:cxnLst/>
              <a:rect r="r" b="b" t="t" l="l"/>
              <a:pathLst>
                <a:path h="805921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805921"/>
                  </a:lnTo>
                  <a:lnTo>
                    <a:pt x="0" y="8059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544" r="0" b="-54004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4023360" cy="86307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DC2626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2.8%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4320540" y="8606203"/>
            <a:ext cx="288036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64748B"/>
                </a:solidFill>
                <a:latin typeface="Carlito"/>
                <a:ea typeface="Carlito"/>
                <a:cs typeface="Carlito"/>
                <a:sym typeface="Carlito"/>
              </a:rPr>
              <a:t>Hospital admissions</a:t>
            </a:r>
          </a:p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64748B"/>
                </a:solidFill>
                <a:latin typeface="Carlito"/>
                <a:ea typeface="Carlito"/>
                <a:cs typeface="Carlito"/>
                <a:sym typeface="Carlito"/>
              </a:rPr>
              <a:t>from DDIs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7536656" y="7810976"/>
            <a:ext cx="3168967" cy="1385888"/>
            <a:chOff x="0" y="0"/>
            <a:chExt cx="4225290" cy="184785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225290" cy="1847850"/>
            </a:xfrm>
            <a:custGeom>
              <a:avLst/>
              <a:gdLst/>
              <a:ahLst/>
              <a:cxnLst/>
              <a:rect r="r" b="b" t="t" l="l"/>
              <a:pathLst>
                <a:path h="1847850" w="4225290">
                  <a:moveTo>
                    <a:pt x="0" y="0"/>
                  </a:moveTo>
                  <a:lnTo>
                    <a:pt x="4225290" y="0"/>
                  </a:lnTo>
                  <a:lnTo>
                    <a:pt x="4225290" y="1847850"/>
                  </a:lnTo>
                  <a:lnTo>
                    <a:pt x="0" y="1847850"/>
                  </a:ln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7612380" y="7982712"/>
            <a:ext cx="3017520" cy="604441"/>
            <a:chOff x="0" y="0"/>
            <a:chExt cx="4023360" cy="80592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023360" cy="805921"/>
            </a:xfrm>
            <a:custGeom>
              <a:avLst/>
              <a:gdLst/>
              <a:ahLst/>
              <a:cxnLst/>
              <a:rect r="r" b="b" t="t" l="l"/>
              <a:pathLst>
                <a:path h="805921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805921"/>
                  </a:lnTo>
                  <a:lnTo>
                    <a:pt x="0" y="8059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544" r="0" b="-54004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4023360" cy="86307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059669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GNN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7680960" y="8534400"/>
            <a:ext cx="288036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64748B"/>
                </a:solidFill>
                <a:latin typeface="Carlito"/>
                <a:ea typeface="Carlito"/>
                <a:cs typeface="Carlito"/>
                <a:sym typeface="Carlito"/>
              </a:rPr>
              <a:t>Features +</a:t>
            </a:r>
          </a:p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64748B"/>
                </a:solidFill>
                <a:latin typeface="Carlito"/>
                <a:ea typeface="Carlito"/>
                <a:cs typeface="Carlito"/>
                <a:sym typeface="Carlito"/>
              </a:rPr>
              <a:t>graph topology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1514296" y="1707356"/>
            <a:ext cx="5912168" cy="7832407"/>
            <a:chOff x="0" y="0"/>
            <a:chExt cx="7882890" cy="1044321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882890" cy="10443210"/>
            </a:xfrm>
            <a:custGeom>
              <a:avLst/>
              <a:gdLst/>
              <a:ahLst/>
              <a:cxnLst/>
              <a:rect r="r" b="b" t="t" l="l"/>
              <a:pathLst>
                <a:path h="10443210" w="7882890">
                  <a:moveTo>
                    <a:pt x="0" y="0"/>
                  </a:moveTo>
                  <a:lnTo>
                    <a:pt x="7882890" y="0"/>
                  </a:lnTo>
                  <a:lnTo>
                    <a:pt x="7882890" y="10443210"/>
                  </a:lnTo>
                  <a:lnTo>
                    <a:pt x="0" y="10443210"/>
                  </a:ln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1864340" y="1988820"/>
            <a:ext cx="5212080" cy="414958"/>
            <a:chOff x="0" y="0"/>
            <a:chExt cx="6949440" cy="55327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949440" cy="553277"/>
            </a:xfrm>
            <a:custGeom>
              <a:avLst/>
              <a:gdLst/>
              <a:ahLst/>
              <a:cxnLst/>
              <a:rect r="r" b="b" t="t" l="l"/>
              <a:pathLst>
                <a:path h="553277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553277"/>
                  </a:lnTo>
                  <a:lnTo>
                    <a:pt x="0" y="5532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8466" r="0" b="-19101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6949440" cy="600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694">
                  <a:solidFill>
                    <a:srgbClr val="64748B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LINK PREDICTION TASK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4456093" y="3826192"/>
            <a:ext cx="2154555" cy="1948815"/>
            <a:chOff x="0" y="0"/>
            <a:chExt cx="2872740" cy="25984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872740" cy="2598420"/>
            </a:xfrm>
            <a:custGeom>
              <a:avLst/>
              <a:gdLst/>
              <a:ahLst/>
              <a:cxnLst/>
              <a:rect r="r" b="b" t="t" l="l"/>
              <a:pathLst>
                <a:path h="2598420" w="2872740">
                  <a:moveTo>
                    <a:pt x="0" y="0"/>
                  </a:moveTo>
                  <a:lnTo>
                    <a:pt x="2872740" y="259842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66051" t="0" r="-66051" b="0"/>
              </a:stretch>
            </a:blipFill>
            <a:ln w="28575" cap="sq">
              <a:solidFill>
                <a:srgbClr val="1E3A8A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2330112" y="5746432"/>
            <a:ext cx="2154555" cy="1948815"/>
            <a:chOff x="0" y="0"/>
            <a:chExt cx="2872740" cy="25984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872740" cy="2598420"/>
            </a:xfrm>
            <a:custGeom>
              <a:avLst/>
              <a:gdLst/>
              <a:ahLst/>
              <a:cxnLst/>
              <a:rect r="r" b="b" t="t" l="l"/>
              <a:pathLst>
                <a:path h="2598420" w="2872740">
                  <a:moveTo>
                    <a:pt x="0" y="0"/>
                  </a:moveTo>
                  <a:lnTo>
                    <a:pt x="2872740" y="259842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66051" t="0" r="-66051" b="0"/>
              </a:stretch>
            </a:blipFill>
            <a:ln w="28575" cap="sq">
              <a:solidFill>
                <a:srgbClr val="1E3A8A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2330112" y="5746432"/>
            <a:ext cx="4280535" cy="28575"/>
            <a:chOff x="0" y="0"/>
            <a:chExt cx="5707380" cy="381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707380" cy="38100"/>
            </a:xfrm>
            <a:custGeom>
              <a:avLst/>
              <a:gdLst/>
              <a:ahLst/>
              <a:cxnLst/>
              <a:rect r="r" b="b" t="t" l="l"/>
              <a:pathLst>
                <a:path h="38100" w="5707380">
                  <a:moveTo>
                    <a:pt x="0" y="0"/>
                  </a:moveTo>
                  <a:lnTo>
                    <a:pt x="5707380" y="381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868858" r="0" b="-2868858"/>
              </a:stretch>
            </a:blipFill>
            <a:ln w="28575" cap="sq">
              <a:solidFill>
                <a:srgbClr val="1E3A8A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4448949" y="3819049"/>
            <a:ext cx="42862" cy="3883342"/>
            <a:chOff x="0" y="0"/>
            <a:chExt cx="57150" cy="517779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7150" cy="5177790"/>
            </a:xfrm>
            <a:custGeom>
              <a:avLst/>
              <a:gdLst/>
              <a:ahLst/>
              <a:cxnLst/>
              <a:rect r="r" b="b" t="t" l="l"/>
              <a:pathLst>
                <a:path h="5177790" w="57150">
                  <a:moveTo>
                    <a:pt x="0" y="0"/>
                  </a:moveTo>
                  <a:lnTo>
                    <a:pt x="57150" y="517779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11574303" t="0" r="-11574303" b="0"/>
              </a:stretch>
            </a:blipFill>
            <a:ln w="42862" cap="sq">
              <a:solidFill>
                <a:srgbClr val="DC2626"/>
              </a:solidFill>
              <a:prstDash val="dash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4007655" y="3377756"/>
            <a:ext cx="925449" cy="925449"/>
            <a:chOff x="0" y="0"/>
            <a:chExt cx="1233932" cy="123393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233932" cy="1233932"/>
            </a:xfrm>
            <a:custGeom>
              <a:avLst/>
              <a:gdLst/>
              <a:ahLst/>
              <a:cxnLst/>
              <a:rect r="r" b="b" t="t" l="l"/>
              <a:pathLst>
                <a:path h="1233932" w="1233932">
                  <a:moveTo>
                    <a:pt x="0" y="616966"/>
                  </a:moveTo>
                  <a:cubicBezTo>
                    <a:pt x="0" y="276225"/>
                    <a:pt x="276225" y="0"/>
                    <a:pt x="616966" y="0"/>
                  </a:cubicBezTo>
                  <a:cubicBezTo>
                    <a:pt x="957707" y="0"/>
                    <a:pt x="1233932" y="276225"/>
                    <a:pt x="1233932" y="616966"/>
                  </a:cubicBezTo>
                  <a:cubicBezTo>
                    <a:pt x="1233932" y="957707"/>
                    <a:pt x="957707" y="1233932"/>
                    <a:pt x="616966" y="1233932"/>
                  </a:cubicBezTo>
                  <a:cubicBezTo>
                    <a:pt x="276225" y="1233932"/>
                    <a:pt x="0" y="957707"/>
                    <a:pt x="0" y="616966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1E3A8A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3825728" y="3662172"/>
            <a:ext cx="1289304" cy="384048"/>
            <a:chOff x="0" y="0"/>
            <a:chExt cx="1719072" cy="51206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719072" cy="512064"/>
            </a:xfrm>
            <a:custGeom>
              <a:avLst/>
              <a:gdLst/>
              <a:ahLst/>
              <a:cxnLst/>
              <a:rect r="r" b="b" t="t" l="l"/>
              <a:pathLst>
                <a:path h="512064" w="1719072">
                  <a:moveTo>
                    <a:pt x="0" y="0"/>
                  </a:moveTo>
                  <a:lnTo>
                    <a:pt x="1719072" y="0"/>
                  </a:lnTo>
                  <a:lnTo>
                    <a:pt x="1719072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14" r="0" b="-15414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1719072" cy="5596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0F172A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Drug A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1881676" y="5297996"/>
            <a:ext cx="925449" cy="925449"/>
            <a:chOff x="0" y="0"/>
            <a:chExt cx="1233932" cy="123393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233932" cy="1233932"/>
            </a:xfrm>
            <a:custGeom>
              <a:avLst/>
              <a:gdLst/>
              <a:ahLst/>
              <a:cxnLst/>
              <a:rect r="r" b="b" t="t" l="l"/>
              <a:pathLst>
                <a:path h="1233932" w="1233932">
                  <a:moveTo>
                    <a:pt x="0" y="616966"/>
                  </a:moveTo>
                  <a:cubicBezTo>
                    <a:pt x="0" y="276225"/>
                    <a:pt x="276225" y="0"/>
                    <a:pt x="616966" y="0"/>
                  </a:cubicBezTo>
                  <a:cubicBezTo>
                    <a:pt x="957707" y="0"/>
                    <a:pt x="1233932" y="276225"/>
                    <a:pt x="1233932" y="616966"/>
                  </a:cubicBezTo>
                  <a:cubicBezTo>
                    <a:pt x="1233932" y="957707"/>
                    <a:pt x="957707" y="1233932"/>
                    <a:pt x="616966" y="1233932"/>
                  </a:cubicBezTo>
                  <a:cubicBezTo>
                    <a:pt x="276225" y="1233932"/>
                    <a:pt x="0" y="957707"/>
                    <a:pt x="0" y="616966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59669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1699748" y="5582412"/>
            <a:ext cx="1289304" cy="384048"/>
            <a:chOff x="0" y="0"/>
            <a:chExt cx="1719072" cy="51206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719072" cy="512064"/>
            </a:xfrm>
            <a:custGeom>
              <a:avLst/>
              <a:gdLst/>
              <a:ahLst/>
              <a:cxnLst/>
              <a:rect r="r" b="b" t="t" l="l"/>
              <a:pathLst>
                <a:path h="512064" w="1719072">
                  <a:moveTo>
                    <a:pt x="0" y="0"/>
                  </a:moveTo>
                  <a:lnTo>
                    <a:pt x="1719072" y="0"/>
                  </a:lnTo>
                  <a:lnTo>
                    <a:pt x="1719072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14" r="0" b="-15414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1719072" cy="5596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0F172A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Drug B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6133636" y="5297996"/>
            <a:ext cx="925449" cy="925449"/>
            <a:chOff x="0" y="0"/>
            <a:chExt cx="1233932" cy="123393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233932" cy="1233932"/>
            </a:xfrm>
            <a:custGeom>
              <a:avLst/>
              <a:gdLst/>
              <a:ahLst/>
              <a:cxnLst/>
              <a:rect r="r" b="b" t="t" l="l"/>
              <a:pathLst>
                <a:path h="1233932" w="1233932">
                  <a:moveTo>
                    <a:pt x="0" y="616966"/>
                  </a:moveTo>
                  <a:cubicBezTo>
                    <a:pt x="0" y="276225"/>
                    <a:pt x="276225" y="0"/>
                    <a:pt x="616966" y="0"/>
                  </a:cubicBezTo>
                  <a:cubicBezTo>
                    <a:pt x="957707" y="0"/>
                    <a:pt x="1233932" y="276225"/>
                    <a:pt x="1233932" y="616966"/>
                  </a:cubicBezTo>
                  <a:cubicBezTo>
                    <a:pt x="1233932" y="957707"/>
                    <a:pt x="957707" y="1233932"/>
                    <a:pt x="616966" y="1233932"/>
                  </a:cubicBezTo>
                  <a:cubicBezTo>
                    <a:pt x="276225" y="1233932"/>
                    <a:pt x="0" y="957707"/>
                    <a:pt x="0" y="616966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59669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15951708" y="5582412"/>
            <a:ext cx="1289304" cy="384048"/>
            <a:chOff x="0" y="0"/>
            <a:chExt cx="1719072" cy="51206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719072" cy="512064"/>
            </a:xfrm>
            <a:custGeom>
              <a:avLst/>
              <a:gdLst/>
              <a:ahLst/>
              <a:cxnLst/>
              <a:rect r="r" b="b" t="t" l="l"/>
              <a:pathLst>
                <a:path h="512064" w="1719072">
                  <a:moveTo>
                    <a:pt x="0" y="0"/>
                  </a:moveTo>
                  <a:lnTo>
                    <a:pt x="1719072" y="0"/>
                  </a:lnTo>
                  <a:lnTo>
                    <a:pt x="1719072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14" r="0" b="-15414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1719072" cy="5596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0F172A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Drug C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4007655" y="7218236"/>
            <a:ext cx="925449" cy="925449"/>
            <a:chOff x="0" y="0"/>
            <a:chExt cx="1233932" cy="123393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233932" cy="1233932"/>
            </a:xfrm>
            <a:custGeom>
              <a:avLst/>
              <a:gdLst/>
              <a:ahLst/>
              <a:cxnLst/>
              <a:rect r="r" b="b" t="t" l="l"/>
              <a:pathLst>
                <a:path h="1233932" w="1233932">
                  <a:moveTo>
                    <a:pt x="0" y="616966"/>
                  </a:moveTo>
                  <a:cubicBezTo>
                    <a:pt x="0" y="276225"/>
                    <a:pt x="276225" y="0"/>
                    <a:pt x="616966" y="0"/>
                  </a:cubicBezTo>
                  <a:cubicBezTo>
                    <a:pt x="957707" y="0"/>
                    <a:pt x="1233932" y="276225"/>
                    <a:pt x="1233932" y="616966"/>
                  </a:cubicBezTo>
                  <a:cubicBezTo>
                    <a:pt x="1233932" y="957707"/>
                    <a:pt x="957707" y="1233932"/>
                    <a:pt x="616966" y="1233932"/>
                  </a:cubicBezTo>
                  <a:cubicBezTo>
                    <a:pt x="276225" y="1233932"/>
                    <a:pt x="0" y="957707"/>
                    <a:pt x="0" y="616966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59669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13825728" y="7502652"/>
            <a:ext cx="1289304" cy="384048"/>
            <a:chOff x="0" y="0"/>
            <a:chExt cx="1719072" cy="51206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719072" cy="512064"/>
            </a:xfrm>
            <a:custGeom>
              <a:avLst/>
              <a:gdLst/>
              <a:ahLst/>
              <a:cxnLst/>
              <a:rect r="r" b="b" t="t" l="l"/>
              <a:pathLst>
                <a:path h="512064" w="1719072">
                  <a:moveTo>
                    <a:pt x="0" y="0"/>
                  </a:moveTo>
                  <a:lnTo>
                    <a:pt x="1719072" y="0"/>
                  </a:lnTo>
                  <a:lnTo>
                    <a:pt x="1719072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14" r="0" b="-15414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47625"/>
              <a:ext cx="1719072" cy="5596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0F172A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Drug D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1915775" y="8939403"/>
            <a:ext cx="514350" cy="34290"/>
            <a:chOff x="0" y="0"/>
            <a:chExt cx="685800" cy="4572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85800" cy="45720"/>
            </a:xfrm>
            <a:custGeom>
              <a:avLst/>
              <a:gdLst/>
              <a:ahLst/>
              <a:cxnLst/>
              <a:rect r="r" b="b" t="t" l="l"/>
              <a:pathLst>
                <a:path h="45720" w="685800">
                  <a:moveTo>
                    <a:pt x="0" y="0"/>
                  </a:moveTo>
                  <a:lnTo>
                    <a:pt x="685800" y="4572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  <a:ln w="34290" cap="sq">
              <a:solidFill>
                <a:srgbClr val="1E3A8A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12481560" y="8791956"/>
            <a:ext cx="1920240" cy="392199"/>
            <a:chOff x="0" y="0"/>
            <a:chExt cx="2560320" cy="52293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560320" cy="522932"/>
            </a:xfrm>
            <a:custGeom>
              <a:avLst/>
              <a:gdLst/>
              <a:ahLst/>
              <a:cxnLst/>
              <a:rect r="r" b="b" t="t" l="l"/>
              <a:pathLst>
                <a:path h="52293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22932"/>
                  </a:lnTo>
                  <a:lnTo>
                    <a:pt x="0" y="5229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685" r="0" b="-39115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47625"/>
              <a:ext cx="2560320" cy="570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64748B"/>
                  </a:solidFill>
                  <a:latin typeface="Carlito"/>
                  <a:ea typeface="Carlito"/>
                  <a:cs typeface="Carlito"/>
                  <a:sym typeface="Carlito"/>
                </a:rPr>
                <a:t>Known DDI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4382750" y="8937498"/>
            <a:ext cx="518160" cy="38100"/>
            <a:chOff x="0" y="0"/>
            <a:chExt cx="690880" cy="508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690880" cy="50800"/>
            </a:xfrm>
            <a:custGeom>
              <a:avLst/>
              <a:gdLst/>
              <a:ahLst/>
              <a:cxnLst/>
              <a:rect r="r" b="b" t="t" l="l"/>
              <a:pathLst>
                <a:path h="50800" w="690880">
                  <a:moveTo>
                    <a:pt x="0" y="0"/>
                  </a:moveTo>
                  <a:lnTo>
                    <a:pt x="690880" y="508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14996" r="0" b="-214996"/>
              </a:stretch>
            </a:blipFill>
            <a:ln w="38100" cap="sq">
              <a:solidFill>
                <a:srgbClr val="DC2626"/>
              </a:solidFill>
              <a:prstDash val="dash"/>
              <a:miter/>
            </a:ln>
          </p:spPr>
        </p:sp>
      </p:grpSp>
      <p:grpSp>
        <p:nvGrpSpPr>
          <p:cNvPr name="Group 86" id="86"/>
          <p:cNvGrpSpPr/>
          <p:nvPr/>
        </p:nvGrpSpPr>
        <p:grpSpPr>
          <a:xfrm rot="0">
            <a:off x="14950440" y="8791956"/>
            <a:ext cx="1920240" cy="392199"/>
            <a:chOff x="0" y="0"/>
            <a:chExt cx="2560320" cy="52293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560320" cy="522932"/>
            </a:xfrm>
            <a:custGeom>
              <a:avLst/>
              <a:gdLst/>
              <a:ahLst/>
              <a:cxnLst/>
              <a:rect r="r" b="b" t="t" l="l"/>
              <a:pathLst>
                <a:path h="52293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22932"/>
                  </a:lnTo>
                  <a:lnTo>
                    <a:pt x="0" y="5229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685" r="0" b="-39115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2560320" cy="570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64748B"/>
                  </a:solidFill>
                  <a:latin typeface="Carlito"/>
                  <a:ea typeface="Carlito"/>
                  <a:cs typeface="Carlito"/>
                  <a:sym typeface="Carlito"/>
                </a:rPr>
                <a:t>Predict?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1521440" y="9258300"/>
            <a:ext cx="5897880" cy="392199"/>
            <a:chOff x="0" y="0"/>
            <a:chExt cx="7863840" cy="52293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7863840" cy="522932"/>
            </a:xfrm>
            <a:custGeom>
              <a:avLst/>
              <a:gdLst/>
              <a:ahLst/>
              <a:cxnLst/>
              <a:rect r="r" b="b" t="t" l="l"/>
              <a:pathLst>
                <a:path h="522932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522932"/>
                  </a:lnTo>
                  <a:lnTo>
                    <a:pt x="0" y="5229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546" r="0" b="-231485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7863840" cy="570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19"/>
                </a:lnSpc>
              </a:pPr>
              <a:r>
                <a:rPr lang="en-US" sz="2099" i="true">
                  <a:solidFill>
                    <a:srgbClr val="64748B"/>
                  </a:solidFill>
                  <a:latin typeface="Carlito Italics"/>
                  <a:ea typeface="Carlito Italics"/>
                  <a:cs typeface="Carlito Italics"/>
                  <a:sym typeface="Carlito Italics"/>
                </a:rPr>
                <a:t>Score the dashed candidate edge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3435" y="744855"/>
            <a:ext cx="265938" cy="265938"/>
            <a:chOff x="0" y="0"/>
            <a:chExt cx="354584" cy="3545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059669"/>
            </a:solidFill>
            <a:ln w="19050" cap="sq">
              <a:solidFill>
                <a:srgbClr val="05966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184880" y="685800"/>
            <a:ext cx="1371600" cy="411480"/>
            <a:chOff x="0" y="0"/>
            <a:chExt cx="1828800" cy="5486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82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b="true" sz="1650" spc="300">
                  <a:solidFill>
                    <a:srgbClr val="0F172A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02</a:t>
              </a:r>
              <a:r>
                <a:rPr lang="en-US" sz="1650" spc="300">
                  <a:solidFill>
                    <a:srgbClr val="64748B"/>
                  </a:solidFill>
                  <a:latin typeface="Carlito"/>
                  <a:ea typeface="Carlito"/>
                  <a:cs typeface="Carlito"/>
                  <a:sym typeface="Carlito"/>
                </a:rPr>
                <a:t> / 05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34440" y="576072"/>
            <a:ext cx="14813280" cy="793924"/>
            <a:chOff x="0" y="0"/>
            <a:chExt cx="19751040" cy="10585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751039" cy="1058565"/>
            </a:xfrm>
            <a:custGeom>
              <a:avLst/>
              <a:gdLst/>
              <a:ahLst/>
              <a:cxnLst/>
              <a:rect r="r" b="b" t="t" l="l"/>
              <a:pathLst>
                <a:path h="1058565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1058565"/>
                  </a:lnTo>
                  <a:lnTo>
                    <a:pt x="0" y="1058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6048" r="0" b="-31106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19751040" cy="1144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F172A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Dataset Description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9710928"/>
            <a:ext cx="8229600" cy="342900"/>
            <a:chOff x="0" y="0"/>
            <a:chExt cx="10972800" cy="457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457200"/>
            </a:xfrm>
            <a:custGeom>
              <a:avLst/>
              <a:gdLst/>
              <a:ahLst/>
              <a:cxnLst/>
              <a:rect r="r" b="b" t="t" l="l"/>
              <a:pathLst>
                <a:path h="4572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0972800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80"/>
                </a:lnSpc>
              </a:pPr>
              <a:r>
                <a:rPr lang="en-US" sz="1400" spc="155">
                  <a:solidFill>
                    <a:srgbClr val="64748B"/>
                  </a:solidFill>
                  <a:latin typeface="Carlito"/>
                  <a:ea typeface="Carlito"/>
                  <a:cs typeface="Carlito"/>
                  <a:sym typeface="Carlito"/>
                </a:rPr>
                <a:t>GNN · DDI Prediction · BioSNAP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304520" y="9710928"/>
            <a:ext cx="4114800" cy="342900"/>
            <a:chOff x="0" y="0"/>
            <a:chExt cx="5486400" cy="457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486400" cy="457200"/>
            </a:xfrm>
            <a:custGeom>
              <a:avLst/>
              <a:gdLst/>
              <a:ahLst/>
              <a:cxnLst/>
              <a:rect r="r" b="b" t="t" l="l"/>
              <a:pathLst>
                <a:path h="4572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5486400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80"/>
                </a:lnSpc>
              </a:pPr>
              <a:r>
                <a:rPr lang="en-US" sz="1400">
                  <a:solidFill>
                    <a:srgbClr val="64748B"/>
                  </a:solidFill>
                  <a:latin typeface="Carlito"/>
                  <a:ea typeface="Carlito"/>
                  <a:cs typeface="Carlito"/>
                  <a:sym typeface="Carlito"/>
                </a:rPr>
                <a:t>AI-600 · Project #10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1714500"/>
            <a:ext cx="8641080" cy="414958"/>
            <a:chOff x="0" y="0"/>
            <a:chExt cx="11521440" cy="55327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521440" cy="553277"/>
            </a:xfrm>
            <a:custGeom>
              <a:avLst/>
              <a:gdLst/>
              <a:ahLst/>
              <a:cxnLst/>
              <a:rect r="r" b="b" t="t" l="l"/>
              <a:pathLst>
                <a:path h="553277" w="11521440">
                  <a:moveTo>
                    <a:pt x="0" y="0"/>
                  </a:moveTo>
                  <a:lnTo>
                    <a:pt x="11521440" y="0"/>
                  </a:lnTo>
                  <a:lnTo>
                    <a:pt x="11521440" y="553277"/>
                  </a:lnTo>
                  <a:lnTo>
                    <a:pt x="0" y="5532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9481" r="0" b="-35203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1521440" cy="600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694">
                  <a:solidFill>
                    <a:srgbClr val="059669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BIOSNAP CHCH-MINER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2194560"/>
            <a:ext cx="8641080" cy="2331720"/>
            <a:chOff x="0" y="0"/>
            <a:chExt cx="11521440" cy="31089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521440" cy="3108960"/>
            </a:xfrm>
            <a:custGeom>
              <a:avLst/>
              <a:gdLst/>
              <a:ahLst/>
              <a:cxnLst/>
              <a:rect r="r" b="b" t="t" l="l"/>
              <a:pathLst>
                <a:path h="3108960" w="11521440">
                  <a:moveTo>
                    <a:pt x="0" y="0"/>
                  </a:moveTo>
                  <a:lnTo>
                    <a:pt x="11521440" y="0"/>
                  </a:lnTo>
                  <a:lnTo>
                    <a:pt x="11521440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09" r="0" b="-2220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1521440" cy="3156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F172A"/>
                  </a:solidFill>
                  <a:latin typeface="Carlito"/>
                  <a:ea typeface="Carlito"/>
                  <a:cs typeface="Carlito"/>
                  <a:sym typeface="Carlito"/>
                </a:rPr>
                <a:t>Binary DDI edges mined from </a:t>
              </a:r>
              <a:r>
                <a:rPr lang="en-US" sz="2100" b="true">
                  <a:solidFill>
                    <a:srgbClr val="0F172A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DrugBank</a:t>
              </a:r>
              <a:r>
                <a:rPr lang="en-US" sz="2100">
                  <a:solidFill>
                    <a:srgbClr val="0F172A"/>
                  </a:solidFill>
                  <a:latin typeface="Carlito"/>
                  <a:ea typeface="Carlito"/>
                  <a:cs typeface="Carlito"/>
                  <a:sym typeface="Carlito"/>
                </a:rPr>
                <a:t> co-administration records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F172A"/>
                  </a:solidFill>
                  <a:latin typeface="Carlito"/>
                  <a:ea typeface="Carlito"/>
                  <a:cs typeface="Carlito"/>
                  <a:sym typeface="Carlito"/>
                </a:rPr>
                <a:t>Drug SMILES fetched from </a:t>
              </a:r>
              <a:r>
                <a:rPr lang="en-US" sz="2100" b="true">
                  <a:solidFill>
                    <a:srgbClr val="0F172A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PubChem</a:t>
              </a:r>
              <a:r>
                <a:rPr lang="en-US" sz="2100">
                  <a:solidFill>
                    <a:srgbClr val="0F172A"/>
                  </a:solidFill>
                  <a:latin typeface="Carlito"/>
                  <a:ea typeface="Carlito"/>
                  <a:cs typeface="Carlito"/>
                  <a:sym typeface="Carlito"/>
                </a:rPr>
                <a:t> REST API, cached locally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F172A"/>
                  </a:solidFill>
                  <a:latin typeface="Carlito"/>
                  <a:ea typeface="Carlito"/>
                  <a:cs typeface="Carlito"/>
                  <a:sym typeface="Carlito"/>
                </a:rPr>
                <a:t>Node features: </a:t>
              </a:r>
              <a:r>
                <a:rPr lang="en-US" sz="2100" b="true">
                  <a:solidFill>
                    <a:srgbClr val="0F172A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2,048-bit Morgan fingerprints</a:t>
              </a:r>
              <a:r>
                <a:rPr lang="en-US" sz="2100">
                  <a:solidFill>
                    <a:srgbClr val="0F172A"/>
                  </a:solidFill>
                  <a:latin typeface="Carlito"/>
                  <a:ea typeface="Carlito"/>
                  <a:cs typeface="Carlito"/>
                  <a:sym typeface="Carlito"/>
                </a:rPr>
                <a:t> (ECFP4, radius 2) via RDKit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22960" y="4937760"/>
            <a:ext cx="8641080" cy="414958"/>
            <a:chOff x="0" y="0"/>
            <a:chExt cx="11521440" cy="55327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521440" cy="553277"/>
            </a:xfrm>
            <a:custGeom>
              <a:avLst/>
              <a:gdLst/>
              <a:ahLst/>
              <a:cxnLst/>
              <a:rect r="r" b="b" t="t" l="l"/>
              <a:pathLst>
                <a:path h="553277" w="11521440">
                  <a:moveTo>
                    <a:pt x="0" y="0"/>
                  </a:moveTo>
                  <a:lnTo>
                    <a:pt x="11521440" y="0"/>
                  </a:lnTo>
                  <a:lnTo>
                    <a:pt x="11521440" y="553277"/>
                  </a:lnTo>
                  <a:lnTo>
                    <a:pt x="0" y="5532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9481" r="0" b="-35203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1521440" cy="600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694">
                  <a:solidFill>
                    <a:srgbClr val="0891B2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DATA SPLITS — 1:1 NEGATIVE SAMPLING</a:t>
              </a:r>
            </a:p>
          </p:txBody>
        </p:sp>
      </p:grpSp>
      <p:graphicFrame>
        <p:nvGraphicFramePr>
          <p:cNvPr name="Table 25" id="25"/>
          <p:cNvGraphicFramePr>
            <a:graphicFrameLocks noGrp="true"/>
          </p:cNvGraphicFramePr>
          <p:nvPr/>
        </p:nvGraphicFramePr>
        <p:xfrm>
          <a:off x="822960" y="5417820"/>
          <a:ext cx="8610600" cy="2286000"/>
        </p:xfrm>
        <a:graphic>
          <a:graphicData uri="http://schemas.openxmlformats.org/drawingml/2006/table">
            <a:tbl>
              <a:tblPr/>
              <a:tblGrid>
                <a:gridCol w="2322002"/>
                <a:gridCol w="2186520"/>
                <a:gridCol w="2186520"/>
                <a:gridCol w="1915557"/>
              </a:tblGrid>
              <a:tr h="571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F172A"/>
                          </a:solidFill>
                          <a:latin typeface="Carlito Bold"/>
                          <a:ea typeface="Carlito Bold"/>
                          <a:cs typeface="Carlito Bold"/>
                          <a:sym typeface="Carlito Bold"/>
                        </a:rPr>
                        <a:t>Split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F172A"/>
                          </a:solidFill>
                          <a:latin typeface="Carlito Bold"/>
                          <a:ea typeface="Carlito Bold"/>
                          <a:cs typeface="Carlito Bold"/>
                          <a:sym typeface="Carlito Bold"/>
                        </a:rPr>
                        <a:t>Pos. Edges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F172A"/>
                          </a:solidFill>
                          <a:latin typeface="Carlito Bold"/>
                          <a:ea typeface="Carlito Bold"/>
                          <a:cs typeface="Carlito Bold"/>
                          <a:sym typeface="Carlito Bold"/>
                        </a:rPr>
                        <a:t>Neg. Edges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F172A"/>
                          </a:solidFill>
                          <a:latin typeface="Carlito Bold"/>
                          <a:ea typeface="Carlito Bold"/>
                          <a:cs typeface="Carlito Bold"/>
                          <a:sym typeface="Carlito Bold"/>
                        </a:rPr>
                        <a:t>Share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Train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33,456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33,456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80%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Val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4,182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4,182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10%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Test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4,182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4,182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10%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26" id="26"/>
          <p:cNvGrpSpPr/>
          <p:nvPr/>
        </p:nvGrpSpPr>
        <p:grpSpPr>
          <a:xfrm rot="0">
            <a:off x="10149840" y="1714500"/>
            <a:ext cx="7269480" cy="414958"/>
            <a:chOff x="0" y="0"/>
            <a:chExt cx="9692640" cy="55327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692640" cy="553277"/>
            </a:xfrm>
            <a:custGeom>
              <a:avLst/>
              <a:gdLst/>
              <a:ahLst/>
              <a:cxnLst/>
              <a:rect r="r" b="b" t="t" l="l"/>
              <a:pathLst>
                <a:path h="553277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553277"/>
                  </a:lnTo>
                  <a:lnTo>
                    <a:pt x="0" y="5532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075" r="0" b="-28762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9692640" cy="600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694">
                  <a:solidFill>
                    <a:srgbClr val="059669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KEY STATISTICS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142696" y="2187416"/>
            <a:ext cx="3511867" cy="1728788"/>
            <a:chOff x="0" y="0"/>
            <a:chExt cx="4682490" cy="23050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682490" cy="2305050"/>
            </a:xfrm>
            <a:custGeom>
              <a:avLst/>
              <a:gdLst/>
              <a:ahLst/>
              <a:cxnLst/>
              <a:rect r="r" b="b" t="t" l="l"/>
              <a:pathLst>
                <a:path h="2305050" w="4682490">
                  <a:moveTo>
                    <a:pt x="0" y="0"/>
                  </a:moveTo>
                  <a:lnTo>
                    <a:pt x="4682490" y="0"/>
                  </a:lnTo>
                  <a:lnTo>
                    <a:pt x="4682490" y="2305050"/>
                  </a:lnTo>
                  <a:lnTo>
                    <a:pt x="0" y="2305050"/>
                  </a:ln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0218420" y="2359152"/>
            <a:ext cx="3360420" cy="692658"/>
            <a:chOff x="0" y="0"/>
            <a:chExt cx="4480560" cy="92354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480560" cy="923544"/>
            </a:xfrm>
            <a:custGeom>
              <a:avLst/>
              <a:gdLst/>
              <a:ahLst/>
              <a:cxnLst/>
              <a:rect r="r" b="b" t="t" l="l"/>
              <a:pathLst>
                <a:path h="923544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923544"/>
                  </a:lnTo>
                  <a:lnTo>
                    <a:pt x="0" y="9235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650" r="0" b="-5641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4480560" cy="98069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1E3A8A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1,338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0287000" y="3099435"/>
            <a:ext cx="322326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64748B"/>
                </a:solidFill>
                <a:latin typeface="Carlito"/>
                <a:ea typeface="Carlito"/>
                <a:cs typeface="Carlito"/>
                <a:sym typeface="Carlito"/>
              </a:rPr>
              <a:t>Drug nodes</a:t>
            </a:r>
          </a:p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64748B"/>
                </a:solidFill>
                <a:latin typeface="Carlito"/>
                <a:ea typeface="Carlito"/>
                <a:cs typeface="Carlito"/>
                <a:sym typeface="Carlito"/>
              </a:rPr>
              <a:t>(valid SMILES)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3914596" y="2187416"/>
            <a:ext cx="3511867" cy="1728788"/>
            <a:chOff x="0" y="0"/>
            <a:chExt cx="4682490" cy="23050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682490" cy="2305050"/>
            </a:xfrm>
            <a:custGeom>
              <a:avLst/>
              <a:gdLst/>
              <a:ahLst/>
              <a:cxnLst/>
              <a:rect r="r" b="b" t="t" l="l"/>
              <a:pathLst>
                <a:path h="2305050" w="4682490">
                  <a:moveTo>
                    <a:pt x="0" y="0"/>
                  </a:moveTo>
                  <a:lnTo>
                    <a:pt x="4682490" y="0"/>
                  </a:lnTo>
                  <a:lnTo>
                    <a:pt x="4682490" y="2305050"/>
                  </a:lnTo>
                  <a:lnTo>
                    <a:pt x="0" y="2305050"/>
                  </a:ln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3990320" y="2359152"/>
            <a:ext cx="3360420" cy="692658"/>
            <a:chOff x="0" y="0"/>
            <a:chExt cx="4480560" cy="92354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480560" cy="923544"/>
            </a:xfrm>
            <a:custGeom>
              <a:avLst/>
              <a:gdLst/>
              <a:ahLst/>
              <a:cxnLst/>
              <a:rect r="r" b="b" t="t" l="l"/>
              <a:pathLst>
                <a:path h="923544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923544"/>
                  </a:lnTo>
                  <a:lnTo>
                    <a:pt x="0" y="9235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650" r="0" b="-5641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4480560" cy="98069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1E3A8A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41,820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4058900" y="3099435"/>
            <a:ext cx="322326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64748B"/>
                </a:solidFill>
                <a:latin typeface="Carlito"/>
                <a:ea typeface="Carlito"/>
                <a:cs typeface="Carlito"/>
                <a:sym typeface="Carlito"/>
              </a:rPr>
              <a:t>Known DDI</a:t>
            </a:r>
          </a:p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64748B"/>
                </a:solidFill>
                <a:latin typeface="Carlito"/>
                <a:ea typeface="Carlito"/>
                <a:cs typeface="Carlito"/>
                <a:sym typeface="Carlito"/>
              </a:rPr>
              <a:t>edges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0142696" y="4176236"/>
            <a:ext cx="3511867" cy="1728788"/>
            <a:chOff x="0" y="0"/>
            <a:chExt cx="4682490" cy="230505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682490" cy="2305050"/>
            </a:xfrm>
            <a:custGeom>
              <a:avLst/>
              <a:gdLst/>
              <a:ahLst/>
              <a:cxnLst/>
              <a:rect r="r" b="b" t="t" l="l"/>
              <a:pathLst>
                <a:path h="2305050" w="4682490">
                  <a:moveTo>
                    <a:pt x="0" y="0"/>
                  </a:moveTo>
                  <a:lnTo>
                    <a:pt x="4682490" y="0"/>
                  </a:lnTo>
                  <a:lnTo>
                    <a:pt x="4682490" y="2305050"/>
                  </a:lnTo>
                  <a:lnTo>
                    <a:pt x="0" y="2305050"/>
                  </a:ln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0218420" y="4347972"/>
            <a:ext cx="3360420" cy="692658"/>
            <a:chOff x="0" y="0"/>
            <a:chExt cx="4480560" cy="92354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480560" cy="923544"/>
            </a:xfrm>
            <a:custGeom>
              <a:avLst/>
              <a:gdLst/>
              <a:ahLst/>
              <a:cxnLst/>
              <a:rect r="r" b="b" t="t" l="l"/>
              <a:pathLst>
                <a:path h="923544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923544"/>
                  </a:lnTo>
                  <a:lnTo>
                    <a:pt x="0" y="9235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650" r="0" b="-5641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57150"/>
              <a:ext cx="4480560" cy="98069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1E3A8A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2,048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0287000" y="5088255"/>
            <a:ext cx="322326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64748B"/>
                </a:solidFill>
                <a:latin typeface="Carlito"/>
                <a:ea typeface="Carlito"/>
                <a:cs typeface="Carlito"/>
                <a:sym typeface="Carlito"/>
              </a:rPr>
              <a:t>Node feature</a:t>
            </a:r>
          </a:p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64748B"/>
                </a:solidFill>
                <a:latin typeface="Carlito"/>
                <a:ea typeface="Carlito"/>
                <a:cs typeface="Carlito"/>
                <a:sym typeface="Carlito"/>
              </a:rPr>
              <a:t>dimension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3914596" y="4176236"/>
            <a:ext cx="3511867" cy="1728788"/>
            <a:chOff x="0" y="0"/>
            <a:chExt cx="4682490" cy="230505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682490" cy="2305050"/>
            </a:xfrm>
            <a:custGeom>
              <a:avLst/>
              <a:gdLst/>
              <a:ahLst/>
              <a:cxnLst/>
              <a:rect r="r" b="b" t="t" l="l"/>
              <a:pathLst>
                <a:path h="2305050" w="4682490">
                  <a:moveTo>
                    <a:pt x="0" y="0"/>
                  </a:moveTo>
                  <a:lnTo>
                    <a:pt x="4682490" y="0"/>
                  </a:lnTo>
                  <a:lnTo>
                    <a:pt x="4682490" y="2305050"/>
                  </a:lnTo>
                  <a:lnTo>
                    <a:pt x="0" y="2305050"/>
                  </a:ln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3990320" y="4347972"/>
            <a:ext cx="3360420" cy="692658"/>
            <a:chOff x="0" y="0"/>
            <a:chExt cx="4480560" cy="92354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480560" cy="923544"/>
            </a:xfrm>
            <a:custGeom>
              <a:avLst/>
              <a:gdLst/>
              <a:ahLst/>
              <a:cxnLst/>
              <a:rect r="r" b="b" t="t" l="l"/>
              <a:pathLst>
                <a:path h="923544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923544"/>
                  </a:lnTo>
                  <a:lnTo>
                    <a:pt x="0" y="9235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650" r="0" b="-5641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4480560" cy="98069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059669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ECFP4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4058900" y="5088255"/>
            <a:ext cx="322326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64748B"/>
                </a:solidFill>
                <a:latin typeface="Carlito"/>
                <a:ea typeface="Carlito"/>
                <a:cs typeface="Carlito"/>
                <a:sym typeface="Carlito"/>
              </a:rPr>
              <a:t>Morgan FP</a:t>
            </a:r>
          </a:p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64748B"/>
                </a:solidFill>
                <a:latin typeface="Carlito"/>
                <a:ea typeface="Carlito"/>
                <a:cs typeface="Carlito"/>
                <a:sym typeface="Carlito"/>
              </a:rPr>
              <a:t>radius 2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0149840" y="6309360"/>
            <a:ext cx="7269480" cy="414958"/>
            <a:chOff x="0" y="0"/>
            <a:chExt cx="9692640" cy="55327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692640" cy="553277"/>
            </a:xfrm>
            <a:custGeom>
              <a:avLst/>
              <a:gdLst/>
              <a:ahLst/>
              <a:cxnLst/>
              <a:rect r="r" b="b" t="t" l="l"/>
              <a:pathLst>
                <a:path h="553277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553277"/>
                  </a:lnTo>
                  <a:lnTo>
                    <a:pt x="0" y="5532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075" r="0" b="-28762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9692640" cy="600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694">
                  <a:solidFill>
                    <a:srgbClr val="0891B2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FEATURE PIPELINE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412254" y="6777514"/>
            <a:ext cx="1944052" cy="1395412"/>
            <a:chOff x="0" y="0"/>
            <a:chExt cx="2592070" cy="186055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592070" cy="1860550"/>
            </a:xfrm>
            <a:custGeom>
              <a:avLst/>
              <a:gdLst/>
              <a:ahLst/>
              <a:cxnLst/>
              <a:rect r="r" b="b" t="t" l="l"/>
              <a:pathLst>
                <a:path h="1860550" w="2592070">
                  <a:moveTo>
                    <a:pt x="0" y="0"/>
                  </a:moveTo>
                  <a:lnTo>
                    <a:pt x="2592070" y="0"/>
                  </a:lnTo>
                  <a:lnTo>
                    <a:pt x="2592070" y="1860550"/>
                  </a:lnTo>
                  <a:lnTo>
                    <a:pt x="0" y="1860550"/>
                  </a:lnTo>
                  <a:close/>
                </a:path>
              </a:pathLst>
            </a:custGeom>
            <a:solidFill>
              <a:srgbClr val="F8FAFC"/>
            </a:solidFill>
            <a:ln w="23812" cap="sq">
              <a:solidFill>
                <a:srgbClr val="64748B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0424160" y="6899148"/>
            <a:ext cx="1920240" cy="548640"/>
            <a:chOff x="0" y="0"/>
            <a:chExt cx="2560320" cy="7315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560320" cy="731520"/>
            </a:xfrm>
            <a:custGeom>
              <a:avLst/>
              <a:gdLst/>
              <a:ahLst/>
              <a:cxnLst/>
              <a:rect r="r" b="b" t="t" l="l"/>
              <a:pathLst>
                <a:path h="73152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25603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64748B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SMILES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0424160" y="7475220"/>
            <a:ext cx="1920240" cy="548640"/>
            <a:chOff x="0" y="0"/>
            <a:chExt cx="2560320" cy="7315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560320" cy="731520"/>
            </a:xfrm>
            <a:custGeom>
              <a:avLst/>
              <a:gdLst/>
              <a:ahLst/>
              <a:cxnLst/>
              <a:rect r="r" b="b" t="t" l="l"/>
              <a:pathLst>
                <a:path h="73152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25603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rlito"/>
                  <a:ea typeface="Carlito"/>
                  <a:cs typeface="Carlito"/>
                  <a:sym typeface="Carlito"/>
                </a:rPr>
                <a:t>string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2399264" y="7296912"/>
            <a:ext cx="384048" cy="356616"/>
            <a:chOff x="0" y="0"/>
            <a:chExt cx="512064" cy="47548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12064" cy="475488"/>
            </a:xfrm>
            <a:custGeom>
              <a:avLst/>
              <a:gdLst/>
              <a:ahLst/>
              <a:cxnLst/>
              <a:rect r="r" b="b" t="t" l="l"/>
              <a:pathLst>
                <a:path h="475488" w="512064">
                  <a:moveTo>
                    <a:pt x="0" y="118872"/>
                  </a:moveTo>
                  <a:lnTo>
                    <a:pt x="274320" y="118872"/>
                  </a:lnTo>
                  <a:lnTo>
                    <a:pt x="274320" y="0"/>
                  </a:lnTo>
                  <a:lnTo>
                    <a:pt x="512064" y="237744"/>
                  </a:lnTo>
                  <a:lnTo>
                    <a:pt x="274320" y="475488"/>
                  </a:lnTo>
                  <a:lnTo>
                    <a:pt x="274320" y="356616"/>
                  </a:lnTo>
                  <a:lnTo>
                    <a:pt x="0" y="356616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2812554" y="6777514"/>
            <a:ext cx="1944052" cy="1395412"/>
            <a:chOff x="0" y="0"/>
            <a:chExt cx="2592070" cy="186055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592070" cy="1860550"/>
            </a:xfrm>
            <a:custGeom>
              <a:avLst/>
              <a:gdLst/>
              <a:ahLst/>
              <a:cxnLst/>
              <a:rect r="r" b="b" t="t" l="l"/>
              <a:pathLst>
                <a:path h="1860550" w="2592070">
                  <a:moveTo>
                    <a:pt x="0" y="0"/>
                  </a:moveTo>
                  <a:lnTo>
                    <a:pt x="2592070" y="0"/>
                  </a:lnTo>
                  <a:lnTo>
                    <a:pt x="2592070" y="1860550"/>
                  </a:lnTo>
                  <a:lnTo>
                    <a:pt x="0" y="1860550"/>
                  </a:lnTo>
                  <a:close/>
                </a:path>
              </a:pathLst>
            </a:custGeom>
            <a:solidFill>
              <a:srgbClr val="F8FAFC"/>
            </a:solidFill>
            <a:ln w="23812" cap="sq">
              <a:solidFill>
                <a:srgbClr val="1E3A8A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12824460" y="6899148"/>
            <a:ext cx="1920240" cy="548640"/>
            <a:chOff x="0" y="0"/>
            <a:chExt cx="2560320" cy="7315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560320" cy="731520"/>
            </a:xfrm>
            <a:custGeom>
              <a:avLst/>
              <a:gdLst/>
              <a:ahLst/>
              <a:cxnLst/>
              <a:rect r="r" b="b" t="t" l="l"/>
              <a:pathLst>
                <a:path h="73152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25603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E3A8A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RDKit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2824460" y="7475220"/>
            <a:ext cx="1920240" cy="548640"/>
            <a:chOff x="0" y="0"/>
            <a:chExt cx="2560320" cy="7315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560320" cy="731520"/>
            </a:xfrm>
            <a:custGeom>
              <a:avLst/>
              <a:gdLst/>
              <a:ahLst/>
              <a:cxnLst/>
              <a:rect r="r" b="b" t="t" l="l"/>
              <a:pathLst>
                <a:path h="73152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25603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rlito"/>
                  <a:ea typeface="Carlito"/>
                  <a:cs typeface="Carlito"/>
                  <a:sym typeface="Carlito"/>
                </a:rPr>
                <a:t>Morgan FP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4799564" y="7296912"/>
            <a:ext cx="384048" cy="356616"/>
            <a:chOff x="0" y="0"/>
            <a:chExt cx="512064" cy="47548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12064" cy="475488"/>
            </a:xfrm>
            <a:custGeom>
              <a:avLst/>
              <a:gdLst/>
              <a:ahLst/>
              <a:cxnLst/>
              <a:rect r="r" b="b" t="t" l="l"/>
              <a:pathLst>
                <a:path h="475488" w="512064">
                  <a:moveTo>
                    <a:pt x="0" y="118872"/>
                  </a:moveTo>
                  <a:lnTo>
                    <a:pt x="274320" y="118872"/>
                  </a:lnTo>
                  <a:lnTo>
                    <a:pt x="274320" y="0"/>
                  </a:lnTo>
                  <a:lnTo>
                    <a:pt x="512064" y="237744"/>
                  </a:lnTo>
                  <a:lnTo>
                    <a:pt x="274320" y="475488"/>
                  </a:lnTo>
                  <a:lnTo>
                    <a:pt x="274320" y="356616"/>
                  </a:lnTo>
                  <a:lnTo>
                    <a:pt x="0" y="356616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5212854" y="6777514"/>
            <a:ext cx="1944052" cy="1395412"/>
            <a:chOff x="0" y="0"/>
            <a:chExt cx="2592070" cy="186055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592070" cy="1860550"/>
            </a:xfrm>
            <a:custGeom>
              <a:avLst/>
              <a:gdLst/>
              <a:ahLst/>
              <a:cxnLst/>
              <a:rect r="r" b="b" t="t" l="l"/>
              <a:pathLst>
                <a:path h="1860550" w="2592070">
                  <a:moveTo>
                    <a:pt x="0" y="0"/>
                  </a:moveTo>
                  <a:lnTo>
                    <a:pt x="2592070" y="0"/>
                  </a:lnTo>
                  <a:lnTo>
                    <a:pt x="2592070" y="1860550"/>
                  </a:lnTo>
                  <a:lnTo>
                    <a:pt x="0" y="1860550"/>
                  </a:lnTo>
                  <a:close/>
                </a:path>
              </a:pathLst>
            </a:custGeom>
            <a:solidFill>
              <a:srgbClr val="F8FAFC"/>
            </a:solidFill>
            <a:ln w="23812" cap="sq">
              <a:solidFill>
                <a:srgbClr val="059669"/>
              </a:solidFill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15224760" y="6899148"/>
            <a:ext cx="1920240" cy="548640"/>
            <a:chOff x="0" y="0"/>
            <a:chExt cx="2560320" cy="73152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560320" cy="731520"/>
            </a:xfrm>
            <a:custGeom>
              <a:avLst/>
              <a:gdLst/>
              <a:ahLst/>
              <a:cxnLst/>
              <a:rect r="r" b="b" t="t" l="l"/>
              <a:pathLst>
                <a:path h="73152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47625"/>
              <a:ext cx="25603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59669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Node x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5224760" y="7475220"/>
            <a:ext cx="1920240" cy="548640"/>
            <a:chOff x="0" y="0"/>
            <a:chExt cx="2560320" cy="73152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560320" cy="731520"/>
            </a:xfrm>
            <a:custGeom>
              <a:avLst/>
              <a:gdLst/>
              <a:ahLst/>
              <a:cxnLst/>
              <a:rect r="r" b="b" t="t" l="l"/>
              <a:pathLst>
                <a:path h="73152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25603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rlito"/>
                  <a:ea typeface="Carlito"/>
                  <a:cs typeface="Carlito"/>
                  <a:sym typeface="Carlito"/>
                </a:rPr>
                <a:t>ℝ²⁰⁴⁸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0149840" y="8366760"/>
            <a:ext cx="7269480" cy="411480"/>
            <a:chOff x="0" y="0"/>
            <a:chExt cx="9692640" cy="54864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9692640" cy="548640"/>
            </a:xfrm>
            <a:custGeom>
              <a:avLst/>
              <a:gdLst/>
              <a:ahLst/>
              <a:cxnLst/>
              <a:rect r="r" b="b" t="t" l="l"/>
              <a:pathLst>
                <a:path h="54864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4235" r="0" b="-294235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47625"/>
              <a:ext cx="969264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19"/>
                </a:lnSpc>
              </a:pPr>
              <a:r>
                <a:rPr lang="en-US" sz="2099" i="true">
                  <a:solidFill>
                    <a:srgbClr val="64748B"/>
                  </a:solidFill>
                  <a:latin typeface="Carlito Italics"/>
                  <a:ea typeface="Carlito Italics"/>
                  <a:cs typeface="Carlito Italics"/>
                  <a:sym typeface="Carlito Italics"/>
                </a:rPr>
                <a:t>From raw molecular structure to 2,048-dim feature vector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3435" y="744855"/>
            <a:ext cx="265938" cy="265938"/>
            <a:chOff x="0" y="0"/>
            <a:chExt cx="354584" cy="3545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D97706"/>
            </a:solidFill>
            <a:ln w="1905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184880" y="685800"/>
            <a:ext cx="1371600" cy="411480"/>
            <a:chOff x="0" y="0"/>
            <a:chExt cx="1828800" cy="5486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82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b="true" sz="1650" spc="300">
                  <a:solidFill>
                    <a:srgbClr val="0F172A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03</a:t>
              </a:r>
              <a:r>
                <a:rPr lang="en-US" sz="1650" spc="300">
                  <a:solidFill>
                    <a:srgbClr val="64748B"/>
                  </a:solidFill>
                  <a:latin typeface="Carlito"/>
                  <a:ea typeface="Carlito"/>
                  <a:cs typeface="Carlito"/>
                  <a:sym typeface="Carlito"/>
                </a:rPr>
                <a:t> / 05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34440" y="576072"/>
            <a:ext cx="14813280" cy="793924"/>
            <a:chOff x="0" y="0"/>
            <a:chExt cx="19751040" cy="10585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751039" cy="1058565"/>
            </a:xfrm>
            <a:custGeom>
              <a:avLst/>
              <a:gdLst/>
              <a:ahLst/>
              <a:cxnLst/>
              <a:rect r="r" b="b" t="t" l="l"/>
              <a:pathLst>
                <a:path h="1058565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1058565"/>
                  </a:lnTo>
                  <a:lnTo>
                    <a:pt x="0" y="1058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6048" r="0" b="-31106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19751040" cy="1144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F172A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Methodology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9710928"/>
            <a:ext cx="8229600" cy="342900"/>
            <a:chOff x="0" y="0"/>
            <a:chExt cx="10972800" cy="457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457200"/>
            </a:xfrm>
            <a:custGeom>
              <a:avLst/>
              <a:gdLst/>
              <a:ahLst/>
              <a:cxnLst/>
              <a:rect r="r" b="b" t="t" l="l"/>
              <a:pathLst>
                <a:path h="4572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0972800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spc="150">
                  <a:solidFill>
                    <a:srgbClr val="64748B"/>
                  </a:solidFill>
                  <a:latin typeface="Carlito"/>
                  <a:ea typeface="Carlito"/>
                  <a:cs typeface="Carlito"/>
                  <a:sym typeface="Carlito"/>
                </a:rPr>
                <a:t>GNN · DDI Prediction · BioSNAP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304520" y="9710928"/>
            <a:ext cx="4114800" cy="342900"/>
            <a:chOff x="0" y="0"/>
            <a:chExt cx="5486400" cy="457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486400" cy="457200"/>
            </a:xfrm>
            <a:custGeom>
              <a:avLst/>
              <a:gdLst/>
              <a:ahLst/>
              <a:cxnLst/>
              <a:rect r="r" b="b" t="t" l="l"/>
              <a:pathLst>
                <a:path h="4572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5486400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4748B"/>
                  </a:solidFill>
                  <a:latin typeface="Carlito"/>
                  <a:ea typeface="Carlito"/>
                  <a:cs typeface="Carlito"/>
                  <a:sym typeface="Carlito"/>
                </a:rPr>
                <a:t>AI-600 · Project #10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1714500"/>
            <a:ext cx="9326880" cy="414958"/>
            <a:chOff x="0" y="0"/>
            <a:chExt cx="12435840" cy="55327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435840" cy="553277"/>
            </a:xfrm>
            <a:custGeom>
              <a:avLst/>
              <a:gdLst/>
              <a:ahLst/>
              <a:cxnLst/>
              <a:rect r="r" b="b" t="t" l="l"/>
              <a:pathLst>
                <a:path h="553277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553277"/>
                  </a:lnTo>
                  <a:lnTo>
                    <a:pt x="0" y="5532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1683" r="0" b="-38423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2435840" cy="600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694">
                  <a:solidFill>
                    <a:srgbClr val="D97706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ENCODER → DECODER ARCHITECTURE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13435" y="2185035"/>
            <a:ext cx="9345930" cy="1088898"/>
            <a:chOff x="0" y="0"/>
            <a:chExt cx="12461240" cy="145186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461240" cy="1451864"/>
            </a:xfrm>
            <a:custGeom>
              <a:avLst/>
              <a:gdLst/>
              <a:ahLst/>
              <a:cxnLst/>
              <a:rect r="r" b="b" t="t" l="l"/>
              <a:pathLst>
                <a:path h="1451864" w="12461240">
                  <a:moveTo>
                    <a:pt x="0" y="0"/>
                  </a:moveTo>
                  <a:lnTo>
                    <a:pt x="12461240" y="0"/>
                  </a:lnTo>
                  <a:lnTo>
                    <a:pt x="12461240" y="1451864"/>
                  </a:lnTo>
                  <a:lnTo>
                    <a:pt x="0" y="1451864"/>
                  </a:lnTo>
                  <a:close/>
                </a:path>
              </a:pathLst>
            </a:custGeom>
            <a:solidFill>
              <a:srgbClr val="EFF6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2194560"/>
            <a:ext cx="109728" cy="1069848"/>
            <a:chOff x="0" y="0"/>
            <a:chExt cx="146304" cy="142646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6304" cy="1426464"/>
            </a:xfrm>
            <a:custGeom>
              <a:avLst/>
              <a:gdLst/>
              <a:ahLst/>
              <a:cxnLst/>
              <a:rect r="r" b="b" t="t" l="l"/>
              <a:pathLst>
                <a:path h="142646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426464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24712" y="2304288"/>
            <a:ext cx="8778240" cy="438912"/>
            <a:chOff x="0" y="0"/>
            <a:chExt cx="11704320" cy="58521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704320" cy="585216"/>
            </a:xfrm>
            <a:custGeom>
              <a:avLst/>
              <a:gdLst/>
              <a:ahLst/>
              <a:cxnLst/>
              <a:rect r="r" b="b" t="t" l="l"/>
              <a:pathLst>
                <a:path h="585216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17043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E3A8A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Node features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24712" y="2743200"/>
            <a:ext cx="8778240" cy="438912"/>
            <a:chOff x="0" y="0"/>
            <a:chExt cx="11704320" cy="58521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704320" cy="585216"/>
            </a:xfrm>
            <a:custGeom>
              <a:avLst/>
              <a:gdLst/>
              <a:ahLst/>
              <a:cxnLst/>
              <a:rect r="r" b="b" t="t" l="l"/>
              <a:pathLst>
                <a:path h="585216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170432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64748B"/>
                  </a:solidFill>
                  <a:latin typeface="Carlito"/>
                  <a:ea typeface="Carlito"/>
                  <a:cs typeface="Carlito"/>
                  <a:sym typeface="Carlito"/>
                </a:rPr>
                <a:t>x ∈ ℝ²⁰⁴⁸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349240" y="3278124"/>
            <a:ext cx="274320" cy="219456"/>
            <a:chOff x="0" y="0"/>
            <a:chExt cx="365760" cy="29260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65760" cy="292608"/>
            </a:xfrm>
            <a:custGeom>
              <a:avLst/>
              <a:gdLst/>
              <a:ahLst/>
              <a:cxnLst/>
              <a:rect r="r" b="b" t="t" l="l"/>
              <a:pathLst>
                <a:path h="292608" w="365760">
                  <a:moveTo>
                    <a:pt x="0" y="146304"/>
                  </a:moveTo>
                  <a:lnTo>
                    <a:pt x="91440" y="146304"/>
                  </a:lnTo>
                  <a:lnTo>
                    <a:pt x="91440" y="0"/>
                  </a:lnTo>
                  <a:lnTo>
                    <a:pt x="274320" y="0"/>
                  </a:lnTo>
                  <a:lnTo>
                    <a:pt x="274320" y="146304"/>
                  </a:lnTo>
                  <a:lnTo>
                    <a:pt x="365760" y="146304"/>
                  </a:lnTo>
                  <a:lnTo>
                    <a:pt x="182880" y="292608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13435" y="3501771"/>
            <a:ext cx="9345930" cy="1088898"/>
            <a:chOff x="0" y="0"/>
            <a:chExt cx="12461240" cy="145186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461240" cy="1451864"/>
            </a:xfrm>
            <a:custGeom>
              <a:avLst/>
              <a:gdLst/>
              <a:ahLst/>
              <a:cxnLst/>
              <a:rect r="r" b="b" t="t" l="l"/>
              <a:pathLst>
                <a:path h="1451864" w="12461240">
                  <a:moveTo>
                    <a:pt x="0" y="0"/>
                  </a:moveTo>
                  <a:lnTo>
                    <a:pt x="12461240" y="0"/>
                  </a:lnTo>
                  <a:lnTo>
                    <a:pt x="12461240" y="1451864"/>
                  </a:lnTo>
                  <a:lnTo>
                    <a:pt x="0" y="1451864"/>
                  </a:lnTo>
                  <a:close/>
                </a:path>
              </a:pathLst>
            </a:custGeom>
            <a:solidFill>
              <a:srgbClr val="F8FAFC"/>
            </a:solidFill>
            <a:ln w="19050" cap="sq">
              <a:solidFill>
                <a:srgbClr val="0F172A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822960" y="3511296"/>
            <a:ext cx="109728" cy="1069848"/>
            <a:chOff x="0" y="0"/>
            <a:chExt cx="146304" cy="142646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46304" cy="1426464"/>
            </a:xfrm>
            <a:custGeom>
              <a:avLst/>
              <a:gdLst/>
              <a:ahLst/>
              <a:cxnLst/>
              <a:rect r="r" b="b" t="t" l="l"/>
              <a:pathLst>
                <a:path h="142646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426464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24712" y="3621024"/>
            <a:ext cx="8778240" cy="438912"/>
            <a:chOff x="0" y="0"/>
            <a:chExt cx="11704320" cy="58521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704320" cy="585216"/>
            </a:xfrm>
            <a:custGeom>
              <a:avLst/>
              <a:gdLst/>
              <a:ahLst/>
              <a:cxnLst/>
              <a:rect r="r" b="b" t="t" l="l"/>
              <a:pathLst>
                <a:path h="585216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17043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F172A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GCN or GIN Conv₁ + BatchNorm + ReLU + Dropout(0.3)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24712" y="4059936"/>
            <a:ext cx="8778240" cy="438912"/>
            <a:chOff x="0" y="0"/>
            <a:chExt cx="11704320" cy="58521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704320" cy="585216"/>
            </a:xfrm>
            <a:custGeom>
              <a:avLst/>
              <a:gdLst/>
              <a:ahLst/>
              <a:cxnLst/>
              <a:rect r="r" b="b" t="t" l="l"/>
              <a:pathLst>
                <a:path h="585216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170432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64748B"/>
                  </a:solidFill>
                  <a:latin typeface="Carlito"/>
                  <a:ea typeface="Carlito"/>
                  <a:cs typeface="Carlito"/>
                  <a:sym typeface="Carlito"/>
                </a:rPr>
                <a:t>2048 → 256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349240" y="4594860"/>
            <a:ext cx="274320" cy="219456"/>
            <a:chOff x="0" y="0"/>
            <a:chExt cx="365760" cy="29260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65760" cy="292608"/>
            </a:xfrm>
            <a:custGeom>
              <a:avLst/>
              <a:gdLst/>
              <a:ahLst/>
              <a:cxnLst/>
              <a:rect r="r" b="b" t="t" l="l"/>
              <a:pathLst>
                <a:path h="292608" w="365760">
                  <a:moveTo>
                    <a:pt x="0" y="146304"/>
                  </a:moveTo>
                  <a:lnTo>
                    <a:pt x="91440" y="146304"/>
                  </a:lnTo>
                  <a:lnTo>
                    <a:pt x="91440" y="0"/>
                  </a:lnTo>
                  <a:lnTo>
                    <a:pt x="274320" y="0"/>
                  </a:lnTo>
                  <a:lnTo>
                    <a:pt x="274320" y="146304"/>
                  </a:lnTo>
                  <a:lnTo>
                    <a:pt x="365760" y="146304"/>
                  </a:lnTo>
                  <a:lnTo>
                    <a:pt x="182880" y="292608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813435" y="4818507"/>
            <a:ext cx="9345930" cy="1088898"/>
            <a:chOff x="0" y="0"/>
            <a:chExt cx="12461240" cy="145186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2461240" cy="1451864"/>
            </a:xfrm>
            <a:custGeom>
              <a:avLst/>
              <a:gdLst/>
              <a:ahLst/>
              <a:cxnLst/>
              <a:rect r="r" b="b" t="t" l="l"/>
              <a:pathLst>
                <a:path h="1451864" w="12461240">
                  <a:moveTo>
                    <a:pt x="0" y="0"/>
                  </a:moveTo>
                  <a:lnTo>
                    <a:pt x="12461240" y="0"/>
                  </a:lnTo>
                  <a:lnTo>
                    <a:pt x="12461240" y="1451864"/>
                  </a:lnTo>
                  <a:lnTo>
                    <a:pt x="0" y="1451864"/>
                  </a:lnTo>
                  <a:close/>
                </a:path>
              </a:pathLst>
            </a:custGeom>
            <a:solidFill>
              <a:srgbClr val="F8FAFC"/>
            </a:solidFill>
            <a:ln w="19050" cap="sq">
              <a:solidFill>
                <a:srgbClr val="0F172A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822960" y="4828032"/>
            <a:ext cx="109728" cy="1069848"/>
            <a:chOff x="0" y="0"/>
            <a:chExt cx="146304" cy="142646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46304" cy="1426464"/>
            </a:xfrm>
            <a:custGeom>
              <a:avLst/>
              <a:gdLst/>
              <a:ahLst/>
              <a:cxnLst/>
              <a:rect r="r" b="b" t="t" l="l"/>
              <a:pathLst>
                <a:path h="142646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426464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24712" y="4937760"/>
            <a:ext cx="8778240" cy="438912"/>
            <a:chOff x="0" y="0"/>
            <a:chExt cx="11704320" cy="58521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704320" cy="585216"/>
            </a:xfrm>
            <a:custGeom>
              <a:avLst/>
              <a:gdLst/>
              <a:ahLst/>
              <a:cxnLst/>
              <a:rect r="r" b="b" t="t" l="l"/>
              <a:pathLst>
                <a:path h="585216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17043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F172A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GCN or GIN Conv₂ + BatchNorm + ReLU + Dropout(0.3)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124712" y="5376672"/>
            <a:ext cx="8778240" cy="438912"/>
            <a:chOff x="0" y="0"/>
            <a:chExt cx="11704320" cy="58521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704320" cy="585216"/>
            </a:xfrm>
            <a:custGeom>
              <a:avLst/>
              <a:gdLst/>
              <a:ahLst/>
              <a:cxnLst/>
              <a:rect r="r" b="b" t="t" l="l"/>
              <a:pathLst>
                <a:path h="585216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1170432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64748B"/>
                  </a:solidFill>
                  <a:latin typeface="Carlito"/>
                  <a:ea typeface="Carlito"/>
                  <a:cs typeface="Carlito"/>
                  <a:sym typeface="Carlito"/>
                </a:rPr>
                <a:t>256 → 64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5349240" y="5911596"/>
            <a:ext cx="274320" cy="219456"/>
            <a:chOff x="0" y="0"/>
            <a:chExt cx="365760" cy="29260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65760" cy="292608"/>
            </a:xfrm>
            <a:custGeom>
              <a:avLst/>
              <a:gdLst/>
              <a:ahLst/>
              <a:cxnLst/>
              <a:rect r="r" b="b" t="t" l="l"/>
              <a:pathLst>
                <a:path h="292608" w="365760">
                  <a:moveTo>
                    <a:pt x="0" y="146304"/>
                  </a:moveTo>
                  <a:lnTo>
                    <a:pt x="91440" y="146304"/>
                  </a:lnTo>
                  <a:lnTo>
                    <a:pt x="91440" y="0"/>
                  </a:lnTo>
                  <a:lnTo>
                    <a:pt x="274320" y="0"/>
                  </a:lnTo>
                  <a:lnTo>
                    <a:pt x="274320" y="146304"/>
                  </a:lnTo>
                  <a:lnTo>
                    <a:pt x="365760" y="146304"/>
                  </a:lnTo>
                  <a:lnTo>
                    <a:pt x="182880" y="292608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813435" y="6135243"/>
            <a:ext cx="9345930" cy="1088898"/>
            <a:chOff x="0" y="0"/>
            <a:chExt cx="12461240" cy="145186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2461240" cy="1451864"/>
            </a:xfrm>
            <a:custGeom>
              <a:avLst/>
              <a:gdLst/>
              <a:ahLst/>
              <a:cxnLst/>
              <a:rect r="r" b="b" t="t" l="l"/>
              <a:pathLst>
                <a:path h="1451864" w="12461240">
                  <a:moveTo>
                    <a:pt x="0" y="0"/>
                  </a:moveTo>
                  <a:lnTo>
                    <a:pt x="12461240" y="0"/>
                  </a:lnTo>
                  <a:lnTo>
                    <a:pt x="12461240" y="1451864"/>
                  </a:lnTo>
                  <a:lnTo>
                    <a:pt x="0" y="1451864"/>
                  </a:lnTo>
                  <a:close/>
                </a:path>
              </a:pathLst>
            </a:custGeom>
            <a:solidFill>
              <a:srgbClr val="FFFBEB"/>
            </a:solidFill>
            <a:ln w="19050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822960" y="6144768"/>
            <a:ext cx="109728" cy="1069848"/>
            <a:chOff x="0" y="0"/>
            <a:chExt cx="146304" cy="142646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46304" cy="1426464"/>
            </a:xfrm>
            <a:custGeom>
              <a:avLst/>
              <a:gdLst/>
              <a:ahLst/>
              <a:cxnLst/>
              <a:rect r="r" b="b" t="t" l="l"/>
              <a:pathLst>
                <a:path h="142646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426464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D97706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124712" y="6254496"/>
            <a:ext cx="8778240" cy="438912"/>
            <a:chOff x="0" y="0"/>
            <a:chExt cx="11704320" cy="58521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1704320" cy="585216"/>
            </a:xfrm>
            <a:custGeom>
              <a:avLst/>
              <a:gdLst/>
              <a:ahLst/>
              <a:cxnLst/>
              <a:rect r="r" b="b" t="t" l="l"/>
              <a:pathLst>
                <a:path h="585216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17043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D97706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Decoder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124712" y="6693408"/>
            <a:ext cx="8778240" cy="438912"/>
            <a:chOff x="0" y="0"/>
            <a:chExt cx="11704320" cy="58521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1704320" cy="585216"/>
            </a:xfrm>
            <a:custGeom>
              <a:avLst/>
              <a:gdLst/>
              <a:ahLst/>
              <a:cxnLst/>
              <a:rect r="r" b="b" t="t" l="l"/>
              <a:pathLst>
                <a:path h="585216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1170432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64748B"/>
                  </a:solidFill>
                  <a:latin typeface="Carlito"/>
                  <a:ea typeface="Carlito"/>
                  <a:cs typeface="Carlito"/>
                  <a:sym typeface="Carlito"/>
                </a:rPr>
                <a:t>Dot: σ(zᵤᵀzᵥ)   |   MLP: [zᵤ‖zᵥ] → 128 → 64 → 1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5349240" y="7228332"/>
            <a:ext cx="274320" cy="219456"/>
            <a:chOff x="0" y="0"/>
            <a:chExt cx="365760" cy="29260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65760" cy="292608"/>
            </a:xfrm>
            <a:custGeom>
              <a:avLst/>
              <a:gdLst/>
              <a:ahLst/>
              <a:cxnLst/>
              <a:rect r="r" b="b" t="t" l="l"/>
              <a:pathLst>
                <a:path h="292608" w="365760">
                  <a:moveTo>
                    <a:pt x="0" y="146304"/>
                  </a:moveTo>
                  <a:lnTo>
                    <a:pt x="91440" y="146304"/>
                  </a:lnTo>
                  <a:lnTo>
                    <a:pt x="91440" y="0"/>
                  </a:lnTo>
                  <a:lnTo>
                    <a:pt x="274320" y="0"/>
                  </a:lnTo>
                  <a:lnTo>
                    <a:pt x="274320" y="146304"/>
                  </a:lnTo>
                  <a:lnTo>
                    <a:pt x="365760" y="146304"/>
                  </a:lnTo>
                  <a:lnTo>
                    <a:pt x="182880" y="292608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813435" y="7451979"/>
            <a:ext cx="9345930" cy="1088898"/>
            <a:chOff x="0" y="0"/>
            <a:chExt cx="12461240" cy="145186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2461240" cy="1451864"/>
            </a:xfrm>
            <a:custGeom>
              <a:avLst/>
              <a:gdLst/>
              <a:ahLst/>
              <a:cxnLst/>
              <a:rect r="r" b="b" t="t" l="l"/>
              <a:pathLst>
                <a:path h="1451864" w="12461240">
                  <a:moveTo>
                    <a:pt x="0" y="0"/>
                  </a:moveTo>
                  <a:lnTo>
                    <a:pt x="12461240" y="0"/>
                  </a:lnTo>
                  <a:lnTo>
                    <a:pt x="12461240" y="1451864"/>
                  </a:lnTo>
                  <a:lnTo>
                    <a:pt x="0" y="1451864"/>
                  </a:lnTo>
                  <a:close/>
                </a:path>
              </a:pathLst>
            </a:custGeom>
            <a:solidFill>
              <a:srgbClr val="ECFDF5"/>
            </a:solidFill>
            <a:ln w="19050" cap="sq">
              <a:solidFill>
                <a:srgbClr val="059669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822960" y="7461504"/>
            <a:ext cx="109728" cy="1069848"/>
            <a:chOff x="0" y="0"/>
            <a:chExt cx="146304" cy="142646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46304" cy="1426464"/>
            </a:xfrm>
            <a:custGeom>
              <a:avLst/>
              <a:gdLst/>
              <a:ahLst/>
              <a:cxnLst/>
              <a:rect r="r" b="b" t="t" l="l"/>
              <a:pathLst>
                <a:path h="142646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426464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059669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124712" y="7571232"/>
            <a:ext cx="8778240" cy="438912"/>
            <a:chOff x="0" y="0"/>
            <a:chExt cx="11704320" cy="58521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1704320" cy="585216"/>
            </a:xfrm>
            <a:custGeom>
              <a:avLst/>
              <a:gdLst/>
              <a:ahLst/>
              <a:cxnLst/>
              <a:rect r="r" b="b" t="t" l="l"/>
              <a:pathLst>
                <a:path h="585216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117043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59669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ŷ ∈ [0, 1]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124712" y="8010144"/>
            <a:ext cx="8778240" cy="438912"/>
            <a:chOff x="0" y="0"/>
            <a:chExt cx="11704320" cy="58521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1704320" cy="585216"/>
            </a:xfrm>
            <a:custGeom>
              <a:avLst/>
              <a:gdLst/>
              <a:ahLst/>
              <a:cxnLst/>
              <a:rect r="r" b="b" t="t" l="l"/>
              <a:pathLst>
                <a:path h="585216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1170432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64748B"/>
                  </a:solidFill>
                  <a:latin typeface="Carlito"/>
                  <a:ea typeface="Carlito"/>
                  <a:cs typeface="Carlito"/>
                  <a:sym typeface="Carlito"/>
                </a:rPr>
                <a:t>interaction probability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0561320" y="1714500"/>
            <a:ext cx="6858000" cy="414958"/>
            <a:chOff x="0" y="0"/>
            <a:chExt cx="9144000" cy="55327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144000" cy="553277"/>
            </a:xfrm>
            <a:custGeom>
              <a:avLst/>
              <a:gdLst/>
              <a:ahLst/>
              <a:cxnLst/>
              <a:rect r="r" b="b" t="t" l="l"/>
              <a:pathLst>
                <a:path h="553277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53277"/>
                  </a:lnTo>
                  <a:lnTo>
                    <a:pt x="0" y="5532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5753" r="0" b="-268304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9144000" cy="600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694">
                  <a:solidFill>
                    <a:srgbClr val="D97706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FIVE CONFIGURATIONS</a:t>
              </a:r>
            </a:p>
          </p:txBody>
        </p:sp>
      </p:grpSp>
      <p:graphicFrame>
        <p:nvGraphicFramePr>
          <p:cNvPr name="Table 80" id="80"/>
          <p:cNvGraphicFramePr>
            <a:graphicFrameLocks noGrp="true"/>
          </p:cNvGraphicFramePr>
          <p:nvPr/>
        </p:nvGraphicFramePr>
        <p:xfrm>
          <a:off x="10561320" y="2194560"/>
          <a:ext cx="6819900" cy="3230033"/>
        </p:xfrm>
        <a:graphic>
          <a:graphicData uri="http://schemas.openxmlformats.org/drawingml/2006/table">
            <a:tbl>
              <a:tblPr/>
              <a:tblGrid>
                <a:gridCol w="2588932"/>
                <a:gridCol w="1642037"/>
                <a:gridCol w="2588932"/>
              </a:tblGrid>
              <a:tr h="5630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F172A"/>
                          </a:solidFill>
                          <a:latin typeface="Carlito Bold"/>
                          <a:ea typeface="Carlito Bold"/>
                          <a:cs typeface="Carlito Bold"/>
                          <a:sym typeface="Carlito Bold"/>
                        </a:rPr>
                        <a:t>Model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F172A"/>
                          </a:solidFill>
                          <a:latin typeface="Carlito Bold"/>
                          <a:ea typeface="Carlito Bold"/>
                          <a:cs typeface="Carlito Bold"/>
                          <a:sym typeface="Carlito Bold"/>
                        </a:rPr>
                        <a:t>Encoder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F172A"/>
                          </a:solidFill>
                          <a:latin typeface="Carlito Bold"/>
                          <a:ea typeface="Carlito Bold"/>
                          <a:cs typeface="Carlito Bold"/>
                          <a:sym typeface="Carlito Bold"/>
                        </a:rPr>
                        <a:t>Decoder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3339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59"/>
                        </a:lnSpc>
                        <a:defRPr/>
                      </a:pPr>
                      <a:r>
                        <a:rPr lang="en-US" sz="1799">
                          <a:solidFill>
                            <a:srgbClr val="0F172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MLP Baseline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59"/>
                        </a:lnSpc>
                        <a:defRPr/>
                      </a:pPr>
                      <a:r>
                        <a:rPr lang="en-US" sz="1799">
                          <a:solidFill>
                            <a:srgbClr val="0F172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—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59"/>
                        </a:lnSpc>
                        <a:defRPr/>
                      </a:pPr>
                      <a:r>
                        <a:rPr lang="en-US" sz="1799">
                          <a:solidFill>
                            <a:srgbClr val="0F172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MLP on [xᵤ‖xᵥ]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39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59"/>
                        </a:lnSpc>
                        <a:defRPr/>
                      </a:pPr>
                      <a:r>
                        <a:rPr lang="en-US" sz="1799">
                          <a:solidFill>
                            <a:srgbClr val="0F172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GCN + Dot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59"/>
                        </a:lnSpc>
                        <a:defRPr/>
                      </a:pPr>
                      <a:r>
                        <a:rPr lang="en-US" sz="1799">
                          <a:solidFill>
                            <a:srgbClr val="0F172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GCN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59"/>
                        </a:lnSpc>
                        <a:defRPr/>
                      </a:pPr>
                      <a:r>
                        <a:rPr lang="en-US" sz="1799">
                          <a:solidFill>
                            <a:srgbClr val="0F172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Dot product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39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5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059669"/>
                          </a:solidFill>
                          <a:latin typeface="Carlito Bold"/>
                          <a:ea typeface="Carlito Bold"/>
                          <a:cs typeface="Carlito Bold"/>
                          <a:sym typeface="Carlito Bold"/>
                        </a:rPr>
                        <a:t>GCN + MLP  ★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5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059669"/>
                          </a:solidFill>
                          <a:latin typeface="Carlito Bold"/>
                          <a:ea typeface="Carlito Bold"/>
                          <a:cs typeface="Carlito Bold"/>
                          <a:sym typeface="Carlito Bold"/>
                        </a:rPr>
                        <a:t>GCN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5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059669"/>
                          </a:solidFill>
                          <a:latin typeface="Carlito Bold"/>
                          <a:ea typeface="Carlito Bold"/>
                          <a:cs typeface="Carlito Bold"/>
                          <a:sym typeface="Carlito Bold"/>
                        </a:rPr>
                        <a:t>MLP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53339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59"/>
                        </a:lnSpc>
                        <a:defRPr/>
                      </a:pPr>
                      <a:r>
                        <a:rPr lang="en-US" sz="1799">
                          <a:solidFill>
                            <a:srgbClr val="0F172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GIN + Dot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59"/>
                        </a:lnSpc>
                        <a:defRPr/>
                      </a:pPr>
                      <a:r>
                        <a:rPr lang="en-US" sz="1799">
                          <a:solidFill>
                            <a:srgbClr val="0F172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GIN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59"/>
                        </a:lnSpc>
                        <a:defRPr/>
                      </a:pPr>
                      <a:r>
                        <a:rPr lang="en-US" sz="1799">
                          <a:solidFill>
                            <a:srgbClr val="0F172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Dot product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39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59"/>
                        </a:lnSpc>
                        <a:defRPr/>
                      </a:pPr>
                      <a:r>
                        <a:rPr lang="en-US" sz="1799">
                          <a:solidFill>
                            <a:srgbClr val="0F172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GIN + MLP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59"/>
                        </a:lnSpc>
                        <a:defRPr/>
                      </a:pPr>
                      <a:r>
                        <a:rPr lang="en-US" sz="1799">
                          <a:solidFill>
                            <a:srgbClr val="0F172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GIN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59"/>
                        </a:lnSpc>
                        <a:defRPr/>
                      </a:pPr>
                      <a:r>
                        <a:rPr lang="en-US" sz="1799">
                          <a:solidFill>
                            <a:srgbClr val="0F172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MLP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81" id="81"/>
          <p:cNvGrpSpPr/>
          <p:nvPr/>
        </p:nvGrpSpPr>
        <p:grpSpPr>
          <a:xfrm rot="0">
            <a:off x="10561320" y="5829300"/>
            <a:ext cx="6858000" cy="414958"/>
            <a:chOff x="0" y="0"/>
            <a:chExt cx="9144000" cy="553277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9144000" cy="553277"/>
            </a:xfrm>
            <a:custGeom>
              <a:avLst/>
              <a:gdLst/>
              <a:ahLst/>
              <a:cxnLst/>
              <a:rect r="r" b="b" t="t" l="l"/>
              <a:pathLst>
                <a:path h="553277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53277"/>
                  </a:lnTo>
                  <a:lnTo>
                    <a:pt x="0" y="5532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5753" r="0" b="-268304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47625"/>
              <a:ext cx="9144000" cy="600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694">
                  <a:solidFill>
                    <a:srgbClr val="0891B2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TRAINING SETUP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0561320" y="6309360"/>
            <a:ext cx="6858000" cy="2057400"/>
            <a:chOff x="0" y="0"/>
            <a:chExt cx="9144000" cy="27432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91440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47625"/>
              <a:ext cx="9144000" cy="2790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 b="true">
                  <a:solidFill>
                    <a:srgbClr val="0F172A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Loss: </a:t>
              </a:r>
              <a:r>
                <a:rPr lang="en-US" sz="2099">
                  <a:solidFill>
                    <a:srgbClr val="0F172A"/>
                  </a:solidFill>
                  <a:latin typeface="Carlito"/>
                  <a:ea typeface="Carlito"/>
                  <a:cs typeface="Carlito"/>
                  <a:sym typeface="Carlito"/>
                </a:rPr>
                <a:t>Binary Cross-Entropy, 1:1 negatives</a:t>
              </a:r>
            </a:p>
            <a:p>
              <a:pPr algn="l">
                <a:lnSpc>
                  <a:spcPts val="2519"/>
                </a:lnSpc>
              </a:pPr>
              <a:r>
                <a:rPr lang="en-US" sz="2099" b="true">
                  <a:solidFill>
                    <a:srgbClr val="0F172A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Optimiser: </a:t>
              </a:r>
              <a:r>
                <a:rPr lang="en-US" sz="2099">
                  <a:solidFill>
                    <a:srgbClr val="0F172A"/>
                  </a:solidFill>
                  <a:latin typeface="Carlito"/>
                  <a:ea typeface="Carlito"/>
                  <a:cs typeface="Carlito"/>
                  <a:sym typeface="Carlito"/>
                </a:rPr>
                <a:t>Adam · lr 1e-3 · wd 1e-5</a:t>
              </a:r>
            </a:p>
            <a:p>
              <a:pPr algn="l">
                <a:lnSpc>
                  <a:spcPts val="2519"/>
                </a:lnSpc>
              </a:pPr>
              <a:r>
                <a:rPr lang="en-US" sz="2099" b="true">
                  <a:solidFill>
                    <a:srgbClr val="0F172A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Early stop: </a:t>
              </a:r>
              <a:r>
                <a:rPr lang="en-US" sz="2099">
                  <a:solidFill>
                    <a:srgbClr val="0F172A"/>
                  </a:solidFill>
                  <a:latin typeface="Carlito"/>
                  <a:ea typeface="Carlito"/>
                  <a:cs typeface="Carlito"/>
                  <a:sym typeface="Carlito"/>
                </a:rPr>
                <a:t>patience 20 on Val AUC, max 150 epochs</a:t>
              </a:r>
            </a:p>
            <a:p>
              <a:pPr algn="l">
                <a:lnSpc>
                  <a:spcPts val="2519"/>
                </a:lnSpc>
              </a:pPr>
              <a:r>
                <a:rPr lang="en-US" sz="2099" b="true">
                  <a:solidFill>
                    <a:srgbClr val="0F172A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Hardware: </a:t>
              </a:r>
              <a:r>
                <a:rPr lang="en-US" sz="2099">
                  <a:solidFill>
                    <a:srgbClr val="0F172A"/>
                  </a:solidFill>
                  <a:latin typeface="Carlito"/>
                  <a:ea typeface="Carlito"/>
                  <a:cs typeface="Carlito"/>
                  <a:sym typeface="Carlito"/>
                </a:rPr>
                <a:t>Apple M4 MPS · seed 42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0561320" y="8366760"/>
            <a:ext cx="6858000" cy="414958"/>
            <a:chOff x="0" y="0"/>
            <a:chExt cx="9144000" cy="553277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9144000" cy="553277"/>
            </a:xfrm>
            <a:custGeom>
              <a:avLst/>
              <a:gdLst/>
              <a:ahLst/>
              <a:cxnLst/>
              <a:rect r="r" b="b" t="t" l="l"/>
              <a:pathLst>
                <a:path h="553277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53277"/>
                  </a:lnTo>
                  <a:lnTo>
                    <a:pt x="0" y="5532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5753" r="0" b="-268304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47625"/>
              <a:ext cx="9144000" cy="600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694">
                  <a:solidFill>
                    <a:srgbClr val="DC2626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UNCERTAINTY &amp; OOD PROTOCOL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0561320" y="8778240"/>
            <a:ext cx="6858000" cy="960120"/>
            <a:chOff x="0" y="0"/>
            <a:chExt cx="9144000" cy="128016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91440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47625"/>
              <a:ext cx="9144000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 b="true">
                  <a:solidFill>
                    <a:srgbClr val="0F172A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MC Dropout: </a:t>
              </a:r>
              <a:r>
                <a:rPr lang="en-US" sz="2099">
                  <a:solidFill>
                    <a:srgbClr val="0F172A"/>
                  </a:solidFill>
                  <a:latin typeface="Carlito"/>
                  <a:ea typeface="Carlito"/>
                  <a:cs typeface="Carlito"/>
                  <a:sym typeface="Carlito"/>
                </a:rPr>
                <a:t>20 stochastic passes → epistemic std</a:t>
              </a:r>
            </a:p>
            <a:p>
              <a:pPr algn="l">
                <a:lnSpc>
                  <a:spcPts val="2519"/>
                </a:lnSpc>
              </a:pPr>
              <a:r>
                <a:rPr lang="en-US" sz="2099" b="true">
                  <a:solidFill>
                    <a:srgbClr val="0F172A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Cold-start: </a:t>
              </a:r>
              <a:r>
                <a:rPr lang="en-US" sz="2099">
                  <a:solidFill>
                    <a:srgbClr val="0F172A"/>
                  </a:solidFill>
                  <a:latin typeface="Carlito"/>
                  <a:ea typeface="Carlito"/>
                  <a:cs typeface="Carlito"/>
                  <a:sym typeface="Carlito"/>
                </a:rPr>
                <a:t>15% of nodes held out entirely at train time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3435" y="744855"/>
            <a:ext cx="265938" cy="265938"/>
            <a:chOff x="0" y="0"/>
            <a:chExt cx="354584" cy="3545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059669"/>
            </a:solidFill>
            <a:ln w="19050" cap="sq">
              <a:solidFill>
                <a:srgbClr val="05966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184880" y="685800"/>
            <a:ext cx="1371600" cy="411480"/>
            <a:chOff x="0" y="0"/>
            <a:chExt cx="1828800" cy="5486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82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b="true" sz="1650" spc="300">
                  <a:solidFill>
                    <a:srgbClr val="0F172A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04</a:t>
              </a:r>
              <a:r>
                <a:rPr lang="en-US" sz="1650" spc="300">
                  <a:solidFill>
                    <a:srgbClr val="64748B"/>
                  </a:solidFill>
                  <a:latin typeface="Carlito"/>
                  <a:ea typeface="Carlito"/>
                  <a:cs typeface="Carlito"/>
                  <a:sym typeface="Carlito"/>
                </a:rPr>
                <a:t> / 05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34440" y="576072"/>
            <a:ext cx="14813280" cy="793924"/>
            <a:chOff x="0" y="0"/>
            <a:chExt cx="19751040" cy="10585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751039" cy="1058565"/>
            </a:xfrm>
            <a:custGeom>
              <a:avLst/>
              <a:gdLst/>
              <a:ahLst/>
              <a:cxnLst/>
              <a:rect r="r" b="b" t="t" l="l"/>
              <a:pathLst>
                <a:path h="1058565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1058565"/>
                  </a:lnTo>
                  <a:lnTo>
                    <a:pt x="0" y="1058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6048" r="0" b="-31106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19751040" cy="1144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F172A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Results &amp; Comparison with Baselines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9710928"/>
            <a:ext cx="8229600" cy="342900"/>
            <a:chOff x="0" y="0"/>
            <a:chExt cx="10972800" cy="457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457200"/>
            </a:xfrm>
            <a:custGeom>
              <a:avLst/>
              <a:gdLst/>
              <a:ahLst/>
              <a:cxnLst/>
              <a:rect r="r" b="b" t="t" l="l"/>
              <a:pathLst>
                <a:path h="4572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0972800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80"/>
                </a:lnSpc>
              </a:pPr>
              <a:r>
                <a:rPr lang="en-US" sz="1400" spc="155">
                  <a:solidFill>
                    <a:srgbClr val="64748B"/>
                  </a:solidFill>
                  <a:latin typeface="Carlito"/>
                  <a:ea typeface="Carlito"/>
                  <a:cs typeface="Carlito"/>
                  <a:sym typeface="Carlito"/>
                </a:rPr>
                <a:t>GNN · DDI Prediction · BioSNAP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304520" y="9710928"/>
            <a:ext cx="4114800" cy="342900"/>
            <a:chOff x="0" y="0"/>
            <a:chExt cx="5486400" cy="457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486400" cy="457200"/>
            </a:xfrm>
            <a:custGeom>
              <a:avLst/>
              <a:gdLst/>
              <a:ahLst/>
              <a:cxnLst/>
              <a:rect r="r" b="b" t="t" l="l"/>
              <a:pathLst>
                <a:path h="4572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5486400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80"/>
                </a:lnSpc>
              </a:pPr>
              <a:r>
                <a:rPr lang="en-US" sz="1400">
                  <a:solidFill>
                    <a:srgbClr val="64748B"/>
                  </a:solidFill>
                  <a:latin typeface="Carlito"/>
                  <a:ea typeface="Carlito"/>
                  <a:cs typeface="Carlito"/>
                  <a:sym typeface="Carlito"/>
                </a:rPr>
                <a:t>AI-600 · Project #10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1714500"/>
            <a:ext cx="9601200" cy="414958"/>
            <a:chOff x="0" y="0"/>
            <a:chExt cx="12801600" cy="55327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801600" cy="553277"/>
            </a:xfrm>
            <a:custGeom>
              <a:avLst/>
              <a:gdLst/>
              <a:ahLst/>
              <a:cxnLst/>
              <a:rect r="r" b="b" t="t" l="l"/>
              <a:pathLst>
                <a:path h="553277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53277"/>
                  </a:lnTo>
                  <a:lnTo>
                    <a:pt x="0" y="5532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565" r="0" b="-39711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2801600" cy="600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694">
                  <a:solidFill>
                    <a:srgbClr val="059669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IID BENCHMARK — BIOSNAP RANDOM SPLIT</a:t>
              </a:r>
            </a:p>
          </p:txBody>
        </p:sp>
      </p:grp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822960" y="2194560"/>
          <a:ext cx="9582150" cy="3711575"/>
        </p:xfrm>
        <a:graphic>
          <a:graphicData uri="http://schemas.openxmlformats.org/drawingml/2006/table">
            <a:tbl>
              <a:tblPr/>
              <a:tblGrid>
                <a:gridCol w="3549923"/>
                <a:gridCol w="1988108"/>
                <a:gridCol w="1988108"/>
                <a:gridCol w="2056013"/>
              </a:tblGrid>
              <a:tr h="56293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F172A"/>
                          </a:solidFill>
                          <a:latin typeface="Carlito Bold"/>
                          <a:ea typeface="Carlito Bold"/>
                          <a:cs typeface="Carlito Bold"/>
                          <a:sym typeface="Carlito Bold"/>
                        </a:rPr>
                        <a:t>Model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F172A"/>
                          </a:solidFill>
                          <a:latin typeface="Carlito Bold"/>
                          <a:ea typeface="Carlito Bold"/>
                          <a:cs typeface="Carlito Bold"/>
                          <a:sym typeface="Carlito Bold"/>
                        </a:rPr>
                        <a:t>Val AUC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F172A"/>
                          </a:solidFill>
                          <a:latin typeface="Carlito Bold"/>
                          <a:ea typeface="Carlito Bold"/>
                          <a:cs typeface="Carlito Bold"/>
                          <a:sym typeface="Carlito Bold"/>
                        </a:rPr>
                        <a:t>Test AUC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F172A"/>
                          </a:solidFill>
                          <a:latin typeface="Carlito Bold"/>
                          <a:ea typeface="Carlito Bold"/>
                          <a:cs typeface="Carlito Bold"/>
                          <a:sym typeface="Carlito Bold"/>
                        </a:rPr>
                        <a:t>Test AP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247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MLP (Non-Relational)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0.9707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0.9660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0.9584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47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GCN + Dot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0.8731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0.8712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0.8675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47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59669"/>
                          </a:solidFill>
                          <a:latin typeface="Carlito Bold"/>
                          <a:ea typeface="Carlito Bold"/>
                          <a:cs typeface="Carlito Bold"/>
                          <a:sym typeface="Carlito Bold"/>
                        </a:rPr>
                        <a:t>GCN + MLP  ★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59669"/>
                          </a:solidFill>
                          <a:latin typeface="Carlito Bold"/>
                          <a:ea typeface="Carlito Bold"/>
                          <a:cs typeface="Carlito Bold"/>
                          <a:sym typeface="Carlito Bold"/>
                        </a:rPr>
                        <a:t>0.9723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59669"/>
                          </a:solidFill>
                          <a:latin typeface="Carlito Bold"/>
                          <a:ea typeface="Carlito Bold"/>
                          <a:cs typeface="Carlito Bold"/>
                          <a:sym typeface="Carlito Bold"/>
                        </a:rPr>
                        <a:t>0.9675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59669"/>
                          </a:solidFill>
                          <a:latin typeface="Carlito Bold"/>
                          <a:ea typeface="Carlito Bold"/>
                          <a:cs typeface="Carlito Bold"/>
                          <a:sym typeface="Carlito Bold"/>
                        </a:rPr>
                        <a:t>0.9655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5247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GIN + Dot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0.8957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0.8618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0.8109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47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GIN + MLP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0.9634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0.9606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0.9541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47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i="true">
                          <a:solidFill>
                            <a:srgbClr val="D97706"/>
                          </a:solidFill>
                          <a:latin typeface="Carlito Italics"/>
                          <a:ea typeface="Carlito Italics"/>
                          <a:cs typeface="Carlito Italics"/>
                          <a:sym typeface="Carlito Italics"/>
                        </a:rPr>
                        <a:t>EmerGNN 2023 †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 i="true">
                          <a:solidFill>
                            <a:srgbClr val="D97706"/>
                          </a:solidFill>
                          <a:latin typeface="Carlito Italics"/>
                          <a:ea typeface="Carlito Italics"/>
                          <a:cs typeface="Carlito Italics"/>
                          <a:sym typeface="Carlito Italics"/>
                        </a:rPr>
                        <a:t>—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 i="true">
                          <a:solidFill>
                            <a:srgbClr val="D97706"/>
                          </a:solidFill>
                          <a:latin typeface="Carlito Italics"/>
                          <a:ea typeface="Carlito Italics"/>
                          <a:cs typeface="Carlito Italics"/>
                          <a:sym typeface="Carlito Italics"/>
                        </a:rPr>
                        <a:t>0.9340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 i="true">
                          <a:solidFill>
                            <a:srgbClr val="D97706"/>
                          </a:solidFill>
                          <a:latin typeface="Carlito Italics"/>
                          <a:ea typeface="Carlito Italics"/>
                          <a:cs typeface="Carlito Italics"/>
                          <a:sym typeface="Carlito Italics"/>
                        </a:rPr>
                        <a:t>—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20" id="20"/>
          <p:cNvGrpSpPr/>
          <p:nvPr/>
        </p:nvGrpSpPr>
        <p:grpSpPr>
          <a:xfrm rot="0">
            <a:off x="822960" y="6446520"/>
            <a:ext cx="9601200" cy="392199"/>
            <a:chOff x="0" y="0"/>
            <a:chExt cx="12801600" cy="5229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801600" cy="522932"/>
            </a:xfrm>
            <a:custGeom>
              <a:avLst/>
              <a:gdLst/>
              <a:ahLst/>
              <a:cxnLst/>
              <a:rect r="r" b="b" t="t" l="l"/>
              <a:pathLst>
                <a:path h="522932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22932"/>
                  </a:lnTo>
                  <a:lnTo>
                    <a:pt x="0" y="5229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8532" r="0" b="-41547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2801600" cy="570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64748B"/>
                  </a:solidFill>
                  <a:latin typeface="Carlito Italics"/>
                  <a:ea typeface="Carlito Italics"/>
                  <a:cs typeface="Carlito Italics"/>
                  <a:sym typeface="Carlito Italics"/>
                </a:rPr>
                <a:t>† Zhang et al. (2023) — published SOTA on BioSNAP DDI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15816" y="6919436"/>
            <a:ext cx="9615488" cy="1180148"/>
            <a:chOff x="0" y="0"/>
            <a:chExt cx="12820650" cy="157353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820650" cy="1573530"/>
            </a:xfrm>
            <a:custGeom>
              <a:avLst/>
              <a:gdLst/>
              <a:ahLst/>
              <a:cxnLst/>
              <a:rect r="r" b="b" t="t" l="l"/>
              <a:pathLst>
                <a:path h="1573530" w="12820650">
                  <a:moveTo>
                    <a:pt x="0" y="0"/>
                  </a:moveTo>
                  <a:lnTo>
                    <a:pt x="12820650" y="0"/>
                  </a:lnTo>
                  <a:lnTo>
                    <a:pt x="12820650" y="1573530"/>
                  </a:lnTo>
                  <a:lnTo>
                    <a:pt x="0" y="1573530"/>
                  </a:lnTo>
                  <a:close/>
                </a:path>
              </a:pathLst>
            </a:custGeom>
            <a:solidFill>
              <a:srgbClr val="ECFDF5"/>
            </a:solidFill>
            <a:ln w="14288" cap="sq">
              <a:solidFill>
                <a:srgbClr val="10B981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6926580"/>
            <a:ext cx="109728" cy="1165860"/>
            <a:chOff x="0" y="0"/>
            <a:chExt cx="146304" cy="15544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6304" cy="1554480"/>
            </a:xfrm>
            <a:custGeom>
              <a:avLst/>
              <a:gdLst/>
              <a:ahLst/>
              <a:cxnLst/>
              <a:rect r="r" b="b" t="t" l="l"/>
              <a:pathLst>
                <a:path h="155448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554480"/>
                  </a:lnTo>
                  <a:lnTo>
                    <a:pt x="0" y="1554480"/>
                  </a:lnTo>
                  <a:close/>
                </a:path>
              </a:pathLst>
            </a:custGeom>
            <a:solidFill>
              <a:srgbClr val="059669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69848" y="6926580"/>
            <a:ext cx="617220" cy="1165860"/>
            <a:chOff x="0" y="0"/>
            <a:chExt cx="822960" cy="15544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22960" cy="1554480"/>
            </a:xfrm>
            <a:custGeom>
              <a:avLst/>
              <a:gdLst/>
              <a:ahLst/>
              <a:cxnLst/>
              <a:rect r="r" b="b" t="t" l="l"/>
              <a:pathLst>
                <a:path h="155448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2351" t="0" r="-192351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822960" cy="1611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rlito"/>
                  <a:ea typeface="Carlito"/>
                  <a:cs typeface="Carlito"/>
                  <a:sym typeface="Carlito"/>
                </a:rPr>
                <a:t>⚡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755648" y="7036308"/>
            <a:ext cx="8503920" cy="438912"/>
            <a:chOff x="0" y="0"/>
            <a:chExt cx="11338560" cy="58521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338560" cy="585216"/>
            </a:xfrm>
            <a:custGeom>
              <a:avLst/>
              <a:gdLst/>
              <a:ahLst/>
              <a:cxnLst/>
              <a:rect r="r" b="b" t="t" l="l"/>
              <a:pathLst>
                <a:path h="585216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7522" r="0" b="-32752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133856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59669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Decoder is the dominant factor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755648" y="7475220"/>
            <a:ext cx="8503920" cy="548640"/>
            <a:chOff x="0" y="0"/>
            <a:chExt cx="11338560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338560" cy="731520"/>
            </a:xfrm>
            <a:custGeom>
              <a:avLst/>
              <a:gdLst/>
              <a:ahLst/>
              <a:cxnLst/>
              <a:rect r="r" b="b" t="t" l="l"/>
              <a:pathLst>
                <a:path h="73152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11338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0F172A"/>
                  </a:solidFill>
                  <a:latin typeface="Carlito"/>
                  <a:ea typeface="Carlito"/>
                  <a:cs typeface="Carlito"/>
                  <a:sym typeface="Carlito"/>
                </a:rPr>
                <a:t>GCN+MLP (0.968) vs GCN+Dot (0.871) = +0.097 AUC — larger than any encoder gap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15816" y="8222456"/>
            <a:ext cx="9615488" cy="1180148"/>
            <a:chOff x="0" y="0"/>
            <a:chExt cx="12820650" cy="157353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820650" cy="1573530"/>
            </a:xfrm>
            <a:custGeom>
              <a:avLst/>
              <a:gdLst/>
              <a:ahLst/>
              <a:cxnLst/>
              <a:rect r="r" b="b" t="t" l="l"/>
              <a:pathLst>
                <a:path h="1573530" w="12820650">
                  <a:moveTo>
                    <a:pt x="0" y="0"/>
                  </a:moveTo>
                  <a:lnTo>
                    <a:pt x="12820650" y="0"/>
                  </a:lnTo>
                  <a:lnTo>
                    <a:pt x="12820650" y="1573530"/>
                  </a:lnTo>
                  <a:lnTo>
                    <a:pt x="0" y="1573530"/>
                  </a:lnTo>
                  <a:close/>
                </a:path>
              </a:pathLst>
            </a:custGeom>
            <a:solidFill>
              <a:srgbClr val="FFFBEB"/>
            </a:solidFill>
            <a:ln w="14288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822960" y="8229600"/>
            <a:ext cx="109728" cy="1165860"/>
            <a:chOff x="0" y="0"/>
            <a:chExt cx="146304" cy="15544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46304" cy="1554480"/>
            </a:xfrm>
            <a:custGeom>
              <a:avLst/>
              <a:gdLst/>
              <a:ahLst/>
              <a:cxnLst/>
              <a:rect r="r" b="b" t="t" l="l"/>
              <a:pathLst>
                <a:path h="155448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554480"/>
                  </a:lnTo>
                  <a:lnTo>
                    <a:pt x="0" y="1554480"/>
                  </a:lnTo>
                  <a:close/>
                </a:path>
              </a:pathLst>
            </a:custGeom>
            <a:solidFill>
              <a:srgbClr val="D97706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69848" y="8229600"/>
            <a:ext cx="617220" cy="1165860"/>
            <a:chOff x="0" y="0"/>
            <a:chExt cx="822960" cy="15544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22960" cy="1554480"/>
            </a:xfrm>
            <a:custGeom>
              <a:avLst/>
              <a:gdLst/>
              <a:ahLst/>
              <a:cxnLst/>
              <a:rect r="r" b="b" t="t" l="l"/>
              <a:pathLst>
                <a:path h="155448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2351" t="0" r="-192351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822960" cy="1611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rlito"/>
                  <a:ea typeface="Carlito"/>
                  <a:cs typeface="Carlito"/>
                  <a:sym typeface="Carlito"/>
                </a:rPr>
                <a:t>🏆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755648" y="8339328"/>
            <a:ext cx="8503920" cy="438912"/>
            <a:chOff x="0" y="0"/>
            <a:chExt cx="11338560" cy="58521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1338560" cy="585216"/>
            </a:xfrm>
            <a:custGeom>
              <a:avLst/>
              <a:gdLst/>
              <a:ahLst/>
              <a:cxnLst/>
              <a:rect r="r" b="b" t="t" l="l"/>
              <a:pathLst>
                <a:path h="585216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7522" r="0" b="-32752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133856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D97706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Beats published SOTA by +3.4 pp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755648" y="8778240"/>
            <a:ext cx="8503920" cy="548640"/>
            <a:chOff x="0" y="0"/>
            <a:chExt cx="11338560" cy="731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338560" cy="731520"/>
            </a:xfrm>
            <a:custGeom>
              <a:avLst/>
              <a:gdLst/>
              <a:ahLst/>
              <a:cxnLst/>
              <a:rect r="r" b="b" t="t" l="l"/>
              <a:pathLst>
                <a:path h="73152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11338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0F172A"/>
                  </a:solidFill>
                  <a:latin typeface="Carlito"/>
                  <a:ea typeface="Carlito"/>
                  <a:cs typeface="Carlito"/>
                  <a:sym typeface="Carlito"/>
                </a:rPr>
                <a:t>GCN+MLP 0.9675 vs EmerGNN 0.9340 — with a simpler architecture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0972800" y="1714500"/>
            <a:ext cx="6446520" cy="414958"/>
            <a:chOff x="0" y="0"/>
            <a:chExt cx="8595360" cy="55327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595360" cy="553277"/>
            </a:xfrm>
            <a:custGeom>
              <a:avLst/>
              <a:gdLst/>
              <a:ahLst/>
              <a:cxnLst/>
              <a:rect r="r" b="b" t="t" l="l"/>
              <a:pathLst>
                <a:path h="553277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553277"/>
                  </a:lnTo>
                  <a:lnTo>
                    <a:pt x="0" y="5532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431" r="0" b="-24898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8595360" cy="600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694">
                  <a:solidFill>
                    <a:srgbClr val="059669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GCN + MLP — KEY METRICS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965656" y="2187416"/>
            <a:ext cx="3100388" cy="1248727"/>
            <a:chOff x="0" y="0"/>
            <a:chExt cx="4133850" cy="166497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133850" cy="1664970"/>
            </a:xfrm>
            <a:custGeom>
              <a:avLst/>
              <a:gdLst/>
              <a:ahLst/>
              <a:cxnLst/>
              <a:rect r="r" b="b" t="t" l="l"/>
              <a:pathLst>
                <a:path h="1664970" w="4133850">
                  <a:moveTo>
                    <a:pt x="0" y="0"/>
                  </a:moveTo>
                  <a:lnTo>
                    <a:pt x="4133850" y="0"/>
                  </a:lnTo>
                  <a:lnTo>
                    <a:pt x="4133850" y="1664970"/>
                  </a:lnTo>
                  <a:lnTo>
                    <a:pt x="0" y="1664970"/>
                  </a:lnTo>
                  <a:close/>
                </a:path>
              </a:pathLst>
            </a:custGeom>
            <a:solidFill>
              <a:srgbClr val="ECFDF5"/>
            </a:solidFill>
            <a:ln w="14288" cap="sq">
              <a:solidFill>
                <a:srgbClr val="10B981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1041380" y="2359152"/>
            <a:ext cx="2948940" cy="614362"/>
            <a:chOff x="0" y="0"/>
            <a:chExt cx="3931920" cy="81915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931920" cy="819150"/>
            </a:xfrm>
            <a:custGeom>
              <a:avLst/>
              <a:gdLst/>
              <a:ahLst/>
              <a:cxnLst/>
              <a:rect r="r" b="b" t="t" l="l"/>
              <a:pathLst>
                <a:path h="81915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819150"/>
                  </a:lnTo>
                  <a:lnTo>
                    <a:pt x="0" y="819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295" r="0" b="-4376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57150"/>
              <a:ext cx="3931920" cy="8763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059669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0.9675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1109960" y="2944939"/>
            <a:ext cx="281178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64748B"/>
                </a:solidFill>
                <a:latin typeface="Carlito"/>
                <a:ea typeface="Carlito"/>
                <a:cs typeface="Carlito"/>
                <a:sym typeface="Carlito"/>
              </a:rPr>
              <a:t>Test ROC-AUC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14326076" y="2187416"/>
            <a:ext cx="3100388" cy="1248727"/>
            <a:chOff x="0" y="0"/>
            <a:chExt cx="4133850" cy="166497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133850" cy="1664970"/>
            </a:xfrm>
            <a:custGeom>
              <a:avLst/>
              <a:gdLst/>
              <a:ahLst/>
              <a:cxnLst/>
              <a:rect r="r" b="b" t="t" l="l"/>
              <a:pathLst>
                <a:path h="1664970" w="4133850">
                  <a:moveTo>
                    <a:pt x="0" y="0"/>
                  </a:moveTo>
                  <a:lnTo>
                    <a:pt x="4133850" y="0"/>
                  </a:lnTo>
                  <a:lnTo>
                    <a:pt x="4133850" y="1664970"/>
                  </a:lnTo>
                  <a:lnTo>
                    <a:pt x="0" y="1664970"/>
                  </a:lnTo>
                  <a:close/>
                </a:path>
              </a:pathLst>
            </a:custGeom>
            <a:solidFill>
              <a:srgbClr val="ECFDF5"/>
            </a:solidFill>
            <a:ln w="14288" cap="sq">
              <a:solidFill>
                <a:srgbClr val="10B981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4401800" y="2359152"/>
            <a:ext cx="2948940" cy="617220"/>
            <a:chOff x="0" y="0"/>
            <a:chExt cx="3931920" cy="82296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931920" cy="822960"/>
            </a:xfrm>
            <a:custGeom>
              <a:avLst/>
              <a:gdLst/>
              <a:ahLst/>
              <a:cxnLst/>
              <a:rect r="r" b="b" t="t" l="l"/>
              <a:pathLst>
                <a:path h="82296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095" r="0" b="-43095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57150"/>
              <a:ext cx="3931920" cy="88011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059669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0.9655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4470380" y="2963989"/>
            <a:ext cx="281178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64748B"/>
                </a:solidFill>
                <a:latin typeface="Carlito"/>
                <a:ea typeface="Carlito"/>
                <a:cs typeface="Carlito"/>
                <a:sym typeface="Carlito"/>
              </a:rPr>
              <a:t>Test Avg. Precision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10965656" y="3627596"/>
            <a:ext cx="3100388" cy="1248727"/>
            <a:chOff x="0" y="0"/>
            <a:chExt cx="4133850" cy="166497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133850" cy="1664970"/>
            </a:xfrm>
            <a:custGeom>
              <a:avLst/>
              <a:gdLst/>
              <a:ahLst/>
              <a:cxnLst/>
              <a:rect r="r" b="b" t="t" l="l"/>
              <a:pathLst>
                <a:path h="1664970" w="4133850">
                  <a:moveTo>
                    <a:pt x="0" y="0"/>
                  </a:moveTo>
                  <a:lnTo>
                    <a:pt x="4133850" y="0"/>
                  </a:lnTo>
                  <a:lnTo>
                    <a:pt x="4133850" y="1664970"/>
                  </a:lnTo>
                  <a:lnTo>
                    <a:pt x="0" y="1664970"/>
                  </a:ln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1041380" y="3799332"/>
            <a:ext cx="2948940" cy="617220"/>
            <a:chOff x="0" y="0"/>
            <a:chExt cx="3931920" cy="82296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931920" cy="822960"/>
            </a:xfrm>
            <a:custGeom>
              <a:avLst/>
              <a:gdLst/>
              <a:ahLst/>
              <a:cxnLst/>
              <a:rect r="r" b="b" t="t" l="l"/>
              <a:pathLst>
                <a:path h="82296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095" r="0" b="-43095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57150"/>
              <a:ext cx="3931920" cy="88011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1E3A8A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0.0156</a:t>
              </a:r>
            </a:p>
          </p:txBody>
        </p:sp>
      </p:grpSp>
      <p:sp>
        <p:nvSpPr>
          <p:cNvPr name="TextBox 69" id="69"/>
          <p:cNvSpPr txBox="true"/>
          <p:nvPr/>
        </p:nvSpPr>
        <p:spPr>
          <a:xfrm rot="0">
            <a:off x="11109960" y="4387977"/>
            <a:ext cx="281178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64748B"/>
                </a:solidFill>
                <a:latin typeface="Carlito"/>
                <a:ea typeface="Carlito"/>
                <a:cs typeface="Carlito"/>
                <a:sym typeface="Carlito"/>
              </a:rPr>
              <a:t>ECE (calibration)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14326076" y="3627596"/>
            <a:ext cx="3100388" cy="1248727"/>
            <a:chOff x="0" y="0"/>
            <a:chExt cx="4133850" cy="166497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133850" cy="1664970"/>
            </a:xfrm>
            <a:custGeom>
              <a:avLst/>
              <a:gdLst/>
              <a:ahLst/>
              <a:cxnLst/>
              <a:rect r="r" b="b" t="t" l="l"/>
              <a:pathLst>
                <a:path h="1664970" w="4133850">
                  <a:moveTo>
                    <a:pt x="0" y="0"/>
                  </a:moveTo>
                  <a:lnTo>
                    <a:pt x="4133850" y="0"/>
                  </a:lnTo>
                  <a:lnTo>
                    <a:pt x="4133850" y="1664970"/>
                  </a:lnTo>
                  <a:lnTo>
                    <a:pt x="0" y="1664970"/>
                  </a:ln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14401800" y="3799332"/>
            <a:ext cx="2948940" cy="617220"/>
            <a:chOff x="0" y="0"/>
            <a:chExt cx="3931920" cy="82296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931920" cy="822960"/>
            </a:xfrm>
            <a:custGeom>
              <a:avLst/>
              <a:gdLst/>
              <a:ahLst/>
              <a:cxnLst/>
              <a:rect r="r" b="b" t="t" l="l"/>
              <a:pathLst>
                <a:path h="82296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095" r="0" b="-43095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57150"/>
              <a:ext cx="3931920" cy="88011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1E3A8A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0.0518</a:t>
              </a: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14470380" y="4387977"/>
            <a:ext cx="281178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64748B"/>
                </a:solidFill>
                <a:latin typeface="Carlito"/>
                <a:ea typeface="Carlito"/>
                <a:cs typeface="Carlito"/>
                <a:sym typeface="Carlito"/>
              </a:rPr>
              <a:t>MC Dropout std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10972800" y="5280660"/>
            <a:ext cx="6446520" cy="414958"/>
            <a:chOff x="0" y="0"/>
            <a:chExt cx="8595360" cy="553277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8595360" cy="553277"/>
            </a:xfrm>
            <a:custGeom>
              <a:avLst/>
              <a:gdLst/>
              <a:ahLst/>
              <a:cxnLst/>
              <a:rect r="r" b="b" t="t" l="l"/>
              <a:pathLst>
                <a:path h="553277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553277"/>
                  </a:lnTo>
                  <a:lnTo>
                    <a:pt x="0" y="5532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431" r="0" b="-248982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47625"/>
              <a:ext cx="8595360" cy="600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694">
                  <a:solidFill>
                    <a:srgbClr val="64748B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TEST AUC — ALL MODELS</a:t>
              </a:r>
            </a:p>
          </p:txBody>
        </p:sp>
      </p:grpSp>
      <p:pic>
        <p:nvPicPr>
          <p:cNvPr name="Picture 79" id="7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973868" y="5011484"/>
            <a:ext cx="8147250" cy="54032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3435" y="744855"/>
            <a:ext cx="265938" cy="265938"/>
            <a:chOff x="0" y="0"/>
            <a:chExt cx="354584" cy="3545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DC2626"/>
            </a:solidFill>
            <a:ln w="19050" cap="sq">
              <a:solidFill>
                <a:srgbClr val="DC262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184880" y="685800"/>
            <a:ext cx="1371600" cy="411480"/>
            <a:chOff x="0" y="0"/>
            <a:chExt cx="1828800" cy="5486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82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b="true" sz="1650" spc="300">
                  <a:solidFill>
                    <a:srgbClr val="0F172A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05</a:t>
              </a:r>
              <a:r>
                <a:rPr lang="en-US" sz="1650" spc="300">
                  <a:solidFill>
                    <a:srgbClr val="64748B"/>
                  </a:solidFill>
                  <a:latin typeface="Carlito"/>
                  <a:ea typeface="Carlito"/>
                  <a:cs typeface="Carlito"/>
                  <a:sym typeface="Carlito"/>
                </a:rPr>
                <a:t> / 05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34440" y="576072"/>
            <a:ext cx="14813280" cy="793924"/>
            <a:chOff x="0" y="0"/>
            <a:chExt cx="19751040" cy="10585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751039" cy="1058565"/>
            </a:xfrm>
            <a:custGeom>
              <a:avLst/>
              <a:gdLst/>
              <a:ahLst/>
              <a:cxnLst/>
              <a:rect r="r" b="b" t="t" l="l"/>
              <a:pathLst>
                <a:path h="1058565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1058565"/>
                  </a:lnTo>
                  <a:lnTo>
                    <a:pt x="0" y="1058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6048" r="0" b="-31106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19751040" cy="1144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F172A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OOD Generalization &amp; Conclusions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9710928"/>
            <a:ext cx="8229600" cy="342900"/>
            <a:chOff x="0" y="0"/>
            <a:chExt cx="10972800" cy="457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457200"/>
            </a:xfrm>
            <a:custGeom>
              <a:avLst/>
              <a:gdLst/>
              <a:ahLst/>
              <a:cxnLst/>
              <a:rect r="r" b="b" t="t" l="l"/>
              <a:pathLst>
                <a:path h="4572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0972800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80"/>
                </a:lnSpc>
              </a:pPr>
              <a:r>
                <a:rPr lang="en-US" sz="1400" spc="155">
                  <a:solidFill>
                    <a:srgbClr val="64748B"/>
                  </a:solidFill>
                  <a:latin typeface="Carlito"/>
                  <a:ea typeface="Carlito"/>
                  <a:cs typeface="Carlito"/>
                  <a:sym typeface="Carlito"/>
                </a:rPr>
                <a:t>GNN · DDI Prediction · BioSNAP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304520" y="9710928"/>
            <a:ext cx="4114800" cy="342900"/>
            <a:chOff x="0" y="0"/>
            <a:chExt cx="5486400" cy="457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486400" cy="457200"/>
            </a:xfrm>
            <a:custGeom>
              <a:avLst/>
              <a:gdLst/>
              <a:ahLst/>
              <a:cxnLst/>
              <a:rect r="r" b="b" t="t" l="l"/>
              <a:pathLst>
                <a:path h="4572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5486400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80"/>
                </a:lnSpc>
              </a:pPr>
              <a:r>
                <a:rPr lang="en-US" sz="1400">
                  <a:solidFill>
                    <a:srgbClr val="64748B"/>
                  </a:solidFill>
                  <a:latin typeface="Carlito"/>
                  <a:ea typeface="Carlito"/>
                  <a:cs typeface="Carlito"/>
                  <a:sym typeface="Carlito"/>
                </a:rPr>
                <a:t>AI-600 · Project #10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1714500"/>
            <a:ext cx="8915400" cy="414958"/>
            <a:chOff x="0" y="0"/>
            <a:chExt cx="11887200" cy="55327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887200" cy="553277"/>
            </a:xfrm>
            <a:custGeom>
              <a:avLst/>
              <a:gdLst/>
              <a:ahLst/>
              <a:cxnLst/>
              <a:rect r="r" b="b" t="t" l="l"/>
              <a:pathLst>
                <a:path h="553277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553277"/>
                  </a:lnTo>
                  <a:lnTo>
                    <a:pt x="0" y="5532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2362" r="0" b="-36491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1887200" cy="600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694">
                  <a:solidFill>
                    <a:srgbClr val="DC2626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COLD-START OOD EVALUATION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2194560"/>
            <a:ext cx="8915400" cy="960120"/>
            <a:chOff x="0" y="0"/>
            <a:chExt cx="11887200" cy="12801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887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932" r="0" b="-13093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1887200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>
                  <a:solidFill>
                    <a:srgbClr val="0F172A"/>
                  </a:solidFill>
                  <a:latin typeface="Carlito"/>
                  <a:ea typeface="Carlito"/>
                  <a:cs typeface="Carlito"/>
                  <a:sym typeface="Carlito"/>
                </a:rPr>
                <a:t>Hold out </a:t>
              </a:r>
              <a:r>
                <a:rPr lang="en-US" sz="2099" b="true">
                  <a:solidFill>
                    <a:srgbClr val="0F172A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15% of drug nodes (≈ 200)</a:t>
              </a:r>
              <a:r>
                <a:rPr lang="en-US" sz="2099">
                  <a:solidFill>
                    <a:srgbClr val="0F172A"/>
                  </a:solidFill>
                  <a:latin typeface="Carlito"/>
                  <a:ea typeface="Carlito"/>
                  <a:cs typeface="Carlito"/>
                  <a:sym typeface="Carlito"/>
                </a:rPr>
                <a:t>. Test on edges between unseen drugs only. GNNs aggregate from seen neighbours via inductive message passing.</a:t>
              </a:r>
            </a:p>
          </p:txBody>
        </p:sp>
      </p:grpSp>
      <p:graphicFrame>
        <p:nvGraphicFramePr>
          <p:cNvPr name="Table 22" id="22"/>
          <p:cNvGraphicFramePr>
            <a:graphicFrameLocks noGrp="true"/>
          </p:cNvGraphicFramePr>
          <p:nvPr/>
        </p:nvGraphicFramePr>
        <p:xfrm>
          <a:off x="822960" y="3360420"/>
          <a:ext cx="8915400" cy="1714500"/>
        </p:xfrm>
        <a:graphic>
          <a:graphicData uri="http://schemas.openxmlformats.org/drawingml/2006/table">
            <a:tbl>
              <a:tblPr/>
              <a:tblGrid>
                <a:gridCol w="2738841"/>
                <a:gridCol w="2058853"/>
                <a:gridCol w="2058853"/>
                <a:gridCol w="2058853"/>
              </a:tblGrid>
              <a:tr h="571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F172A"/>
                          </a:solidFill>
                          <a:latin typeface="Carlito Bold"/>
                          <a:ea typeface="Carlito Bold"/>
                          <a:cs typeface="Carlito Bold"/>
                          <a:sym typeface="Carlito Bold"/>
                        </a:rPr>
                        <a:t>Model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F172A"/>
                          </a:solidFill>
                          <a:latin typeface="Carlito Bold"/>
                          <a:ea typeface="Carlito Bold"/>
                          <a:cs typeface="Carlito Bold"/>
                          <a:sym typeface="Carlito Bold"/>
                        </a:rPr>
                        <a:t>IID AUC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F172A"/>
                          </a:solidFill>
                          <a:latin typeface="Carlito Bold"/>
                          <a:ea typeface="Carlito Bold"/>
                          <a:cs typeface="Carlito Bold"/>
                          <a:sym typeface="Carlito Bold"/>
                        </a:rPr>
                        <a:t>OOD AUC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3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F172A"/>
                          </a:solidFill>
                          <a:latin typeface="Carlito Bold"/>
                          <a:ea typeface="Carlito Bold"/>
                          <a:cs typeface="Carlito Bold"/>
                          <a:sym typeface="Carlito Bold"/>
                        </a:rPr>
                        <a:t>Δ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DC2626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MLP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0.9660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DC2626"/>
                          </a:solidFill>
                          <a:latin typeface="Carlito Bold"/>
                          <a:ea typeface="Carlito Bold"/>
                          <a:cs typeface="Carlito Bold"/>
                          <a:sym typeface="Carlito Bold"/>
                        </a:rPr>
                        <a:t>0.6124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DC2626"/>
                          </a:solidFill>
                          <a:latin typeface="Carlito Bold"/>
                          <a:ea typeface="Carlito Bold"/>
                          <a:cs typeface="Carlito Bold"/>
                          <a:sym typeface="Carlito Bold"/>
                        </a:rPr>
                        <a:t>−0.354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59669"/>
                          </a:solidFill>
                          <a:latin typeface="Carlito Bold"/>
                          <a:ea typeface="Carlito Bold"/>
                          <a:cs typeface="Carlito Bold"/>
                          <a:sym typeface="Carlito Bold"/>
                        </a:rPr>
                        <a:t>GCN + MLP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0.9675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59669"/>
                          </a:solidFill>
                          <a:latin typeface="Carlito Bold"/>
                          <a:ea typeface="Carlito Bold"/>
                          <a:cs typeface="Carlito Bold"/>
                          <a:sym typeface="Carlito Bold"/>
                        </a:rPr>
                        <a:t>0.8697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59669"/>
                          </a:solidFill>
                          <a:latin typeface="Carlito Bold"/>
                          <a:ea typeface="Carlito Bold"/>
                          <a:cs typeface="Carlito Bold"/>
                          <a:sym typeface="Carlito Bold"/>
                        </a:rPr>
                        <a:t>−0.098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23" id="23"/>
          <p:cNvGrpSpPr/>
          <p:nvPr/>
        </p:nvGrpSpPr>
        <p:grpSpPr>
          <a:xfrm rot="0">
            <a:off x="815816" y="5479256"/>
            <a:ext cx="8929688" cy="1042988"/>
            <a:chOff x="0" y="0"/>
            <a:chExt cx="11906250" cy="13906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906250" cy="1390650"/>
            </a:xfrm>
            <a:custGeom>
              <a:avLst/>
              <a:gdLst/>
              <a:ahLst/>
              <a:cxnLst/>
              <a:rect r="r" b="b" t="t" l="l"/>
              <a:pathLst>
                <a:path h="1390650" w="11906250">
                  <a:moveTo>
                    <a:pt x="0" y="0"/>
                  </a:moveTo>
                  <a:lnTo>
                    <a:pt x="11906250" y="0"/>
                  </a:lnTo>
                  <a:lnTo>
                    <a:pt x="11906250" y="1390650"/>
                  </a:lnTo>
                  <a:lnTo>
                    <a:pt x="0" y="1390650"/>
                  </a:lnTo>
                  <a:close/>
                </a:path>
              </a:pathLst>
            </a:custGeom>
            <a:solidFill>
              <a:srgbClr val="FEF2F2"/>
            </a:solidFill>
            <a:ln w="14288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5486400"/>
            <a:ext cx="109728" cy="1028700"/>
            <a:chOff x="0" y="0"/>
            <a:chExt cx="146304" cy="1371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6304" cy="1371600"/>
            </a:xfrm>
            <a:custGeom>
              <a:avLst/>
              <a:gdLst/>
              <a:ahLst/>
              <a:cxnLst/>
              <a:rect r="r" b="b" t="t" l="l"/>
              <a:pathLst>
                <a:path h="13716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69848" y="5486400"/>
            <a:ext cx="548640" cy="1028700"/>
            <a:chOff x="0" y="0"/>
            <a:chExt cx="731520" cy="1371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15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0569" t="0" r="-190569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731520" cy="140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DC2626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⚠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673352" y="5568696"/>
            <a:ext cx="7900416" cy="411480"/>
            <a:chOff x="0" y="0"/>
            <a:chExt cx="10533888" cy="548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533888" cy="548640"/>
            </a:xfrm>
            <a:custGeom>
              <a:avLst/>
              <a:gdLst/>
              <a:ahLst/>
              <a:cxnLst/>
              <a:rect r="r" b="b" t="t" l="l"/>
              <a:pathLst>
                <a:path h="548640" w="10533888">
                  <a:moveTo>
                    <a:pt x="0" y="0"/>
                  </a:moveTo>
                  <a:lnTo>
                    <a:pt x="10533888" y="0"/>
                  </a:lnTo>
                  <a:lnTo>
                    <a:pt x="1053388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112" r="0" b="-32411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0533888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DC2626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MLP nearly collapses on OOD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673352" y="5980176"/>
            <a:ext cx="7900416" cy="493776"/>
            <a:chOff x="0" y="0"/>
            <a:chExt cx="10533888" cy="65836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533888" cy="658368"/>
            </a:xfrm>
            <a:custGeom>
              <a:avLst/>
              <a:gdLst/>
              <a:ahLst/>
              <a:cxnLst/>
              <a:rect r="r" b="b" t="t" l="l"/>
              <a:pathLst>
                <a:path h="658368" w="10533888">
                  <a:moveTo>
                    <a:pt x="0" y="0"/>
                  </a:moveTo>
                  <a:lnTo>
                    <a:pt x="10533888" y="0"/>
                  </a:lnTo>
                  <a:lnTo>
                    <a:pt x="1053388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10533888" cy="705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0F172A"/>
                  </a:solidFill>
                  <a:latin typeface="Carlito"/>
                  <a:ea typeface="Carlito"/>
                  <a:cs typeface="Carlito"/>
                  <a:sym typeface="Carlito"/>
                </a:rPr>
                <a:t>Relies purely on molecular features — no graph → 0.612 AUC on cold-start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15816" y="6645116"/>
            <a:ext cx="8929688" cy="1042988"/>
            <a:chOff x="0" y="0"/>
            <a:chExt cx="11906250" cy="13906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906250" cy="1390650"/>
            </a:xfrm>
            <a:custGeom>
              <a:avLst/>
              <a:gdLst/>
              <a:ahLst/>
              <a:cxnLst/>
              <a:rect r="r" b="b" t="t" l="l"/>
              <a:pathLst>
                <a:path h="1390650" w="11906250">
                  <a:moveTo>
                    <a:pt x="0" y="0"/>
                  </a:moveTo>
                  <a:lnTo>
                    <a:pt x="11906250" y="0"/>
                  </a:lnTo>
                  <a:lnTo>
                    <a:pt x="11906250" y="1390650"/>
                  </a:lnTo>
                  <a:lnTo>
                    <a:pt x="0" y="1390650"/>
                  </a:lnTo>
                  <a:close/>
                </a:path>
              </a:pathLst>
            </a:custGeom>
            <a:solidFill>
              <a:srgbClr val="ECFDF5"/>
            </a:solidFill>
            <a:ln w="14288" cap="sq">
              <a:solidFill>
                <a:srgbClr val="10B981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822960" y="6652260"/>
            <a:ext cx="109728" cy="1028700"/>
            <a:chOff x="0" y="0"/>
            <a:chExt cx="146304" cy="1371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46304" cy="1371600"/>
            </a:xfrm>
            <a:custGeom>
              <a:avLst/>
              <a:gdLst/>
              <a:ahLst/>
              <a:cxnLst/>
              <a:rect r="r" b="b" t="t" l="l"/>
              <a:pathLst>
                <a:path h="13716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059669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69848" y="6652260"/>
            <a:ext cx="548640" cy="1028700"/>
            <a:chOff x="0" y="0"/>
            <a:chExt cx="731520" cy="13716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315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0569" t="0" r="-190569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731520" cy="140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59669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✓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673352" y="6734556"/>
            <a:ext cx="7900416" cy="411480"/>
            <a:chOff x="0" y="0"/>
            <a:chExt cx="10533888" cy="5486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533888" cy="548640"/>
            </a:xfrm>
            <a:custGeom>
              <a:avLst/>
              <a:gdLst/>
              <a:ahLst/>
              <a:cxnLst/>
              <a:rect r="r" b="b" t="t" l="l"/>
              <a:pathLst>
                <a:path h="548640" w="10533888">
                  <a:moveTo>
                    <a:pt x="0" y="0"/>
                  </a:moveTo>
                  <a:lnTo>
                    <a:pt x="10533888" y="0"/>
                  </a:lnTo>
                  <a:lnTo>
                    <a:pt x="1053388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112" r="0" b="-32411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0533888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59669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GCN retains 0.870 AUC cold-start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673352" y="7146036"/>
            <a:ext cx="7900416" cy="493776"/>
            <a:chOff x="0" y="0"/>
            <a:chExt cx="10533888" cy="65836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533888" cy="658368"/>
            </a:xfrm>
            <a:custGeom>
              <a:avLst/>
              <a:gdLst/>
              <a:ahLst/>
              <a:cxnLst/>
              <a:rect r="r" b="b" t="t" l="l"/>
              <a:pathLst>
                <a:path h="658368" w="10533888">
                  <a:moveTo>
                    <a:pt x="0" y="0"/>
                  </a:moveTo>
                  <a:lnTo>
                    <a:pt x="10533888" y="0"/>
                  </a:lnTo>
                  <a:lnTo>
                    <a:pt x="1053388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10533888" cy="705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0F172A"/>
                  </a:solidFill>
                  <a:latin typeface="Carlito"/>
                  <a:ea typeface="Carlito"/>
                  <a:cs typeface="Carlito"/>
                  <a:sym typeface="Carlito"/>
                </a:rPr>
                <a:t>Graph topology provides the OOD robustness advantage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22960" y="8023860"/>
            <a:ext cx="8915400" cy="414958"/>
            <a:chOff x="0" y="0"/>
            <a:chExt cx="11887200" cy="55327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887200" cy="553277"/>
            </a:xfrm>
            <a:custGeom>
              <a:avLst/>
              <a:gdLst/>
              <a:ahLst/>
              <a:cxnLst/>
              <a:rect r="r" b="b" t="t" l="l"/>
              <a:pathLst>
                <a:path h="553277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553277"/>
                  </a:lnTo>
                  <a:lnTo>
                    <a:pt x="0" y="5532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2362" r="0" b="-364913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11887200" cy="600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694">
                  <a:solidFill>
                    <a:srgbClr val="0891B2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MC DROPOUT — IID VS OOD UNCERTAINTY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15816" y="8496776"/>
            <a:ext cx="4334828" cy="1180148"/>
            <a:chOff x="0" y="0"/>
            <a:chExt cx="5779770" cy="157353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779770" cy="1573530"/>
            </a:xfrm>
            <a:custGeom>
              <a:avLst/>
              <a:gdLst/>
              <a:ahLst/>
              <a:cxnLst/>
              <a:rect r="r" b="b" t="t" l="l"/>
              <a:pathLst>
                <a:path h="1573530" w="5779770">
                  <a:moveTo>
                    <a:pt x="0" y="0"/>
                  </a:moveTo>
                  <a:lnTo>
                    <a:pt x="5779770" y="0"/>
                  </a:lnTo>
                  <a:lnTo>
                    <a:pt x="5779770" y="1573530"/>
                  </a:lnTo>
                  <a:lnTo>
                    <a:pt x="0" y="1573530"/>
                  </a:lnTo>
                  <a:close/>
                </a:path>
              </a:pathLst>
            </a:custGeom>
            <a:solidFill>
              <a:srgbClr val="ECFDF5"/>
            </a:solidFill>
            <a:ln w="14288" cap="sq">
              <a:solidFill>
                <a:srgbClr val="10B981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891540" y="8668512"/>
            <a:ext cx="4183380" cy="582930"/>
            <a:chOff x="0" y="0"/>
            <a:chExt cx="5577840" cy="7772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577840" cy="777240"/>
            </a:xfrm>
            <a:custGeom>
              <a:avLst/>
              <a:gdLst/>
              <a:ahLst/>
              <a:cxnLst/>
              <a:rect r="r" b="b" t="t" l="l"/>
              <a:pathLst>
                <a:path h="777240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833" r="0" b="-89833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66675"/>
              <a:ext cx="5577840" cy="84391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59669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0.0160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960120" y="9272397"/>
            <a:ext cx="404622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799">
                <a:solidFill>
                  <a:srgbClr val="64748B"/>
                </a:solidFill>
                <a:latin typeface="Carlito"/>
                <a:ea typeface="Carlito"/>
                <a:cs typeface="Carlito"/>
                <a:sym typeface="Carlito"/>
              </a:rPr>
              <a:t>IID mean std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5410676" y="8496776"/>
            <a:ext cx="4334828" cy="1180148"/>
            <a:chOff x="0" y="0"/>
            <a:chExt cx="5779770" cy="157353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779770" cy="1573530"/>
            </a:xfrm>
            <a:custGeom>
              <a:avLst/>
              <a:gdLst/>
              <a:ahLst/>
              <a:cxnLst/>
              <a:rect r="r" b="b" t="t" l="l"/>
              <a:pathLst>
                <a:path h="1573530" w="5779770">
                  <a:moveTo>
                    <a:pt x="0" y="0"/>
                  </a:moveTo>
                  <a:lnTo>
                    <a:pt x="5779770" y="0"/>
                  </a:lnTo>
                  <a:lnTo>
                    <a:pt x="5779770" y="1573530"/>
                  </a:lnTo>
                  <a:lnTo>
                    <a:pt x="0" y="1573530"/>
                  </a:lnTo>
                  <a:close/>
                </a:path>
              </a:pathLst>
            </a:custGeom>
            <a:solidFill>
              <a:srgbClr val="FFFBEB"/>
            </a:solidFill>
            <a:ln w="14288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5486400" y="8668512"/>
            <a:ext cx="4183380" cy="582930"/>
            <a:chOff x="0" y="0"/>
            <a:chExt cx="5577840" cy="7772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577840" cy="777240"/>
            </a:xfrm>
            <a:custGeom>
              <a:avLst/>
              <a:gdLst/>
              <a:ahLst/>
              <a:cxnLst/>
              <a:rect r="r" b="b" t="t" l="l"/>
              <a:pathLst>
                <a:path h="777240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833" r="0" b="-8983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66675"/>
              <a:ext cx="5577840" cy="84391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D97706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0.0174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5554980" y="9272397"/>
            <a:ext cx="404622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64748B"/>
                </a:solidFill>
                <a:latin typeface="Carlito"/>
                <a:ea typeface="Carlito"/>
                <a:cs typeface="Carlito"/>
                <a:sym typeface="Carlito"/>
              </a:rPr>
              <a:t>OOD mean std (1.09×)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10287000" y="1714500"/>
            <a:ext cx="7132320" cy="414958"/>
            <a:chOff x="0" y="0"/>
            <a:chExt cx="9509760" cy="553277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509760" cy="553277"/>
            </a:xfrm>
            <a:custGeom>
              <a:avLst/>
              <a:gdLst/>
              <a:ahLst/>
              <a:cxnLst/>
              <a:rect r="r" b="b" t="t" l="l"/>
              <a:pathLst>
                <a:path h="553277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553277"/>
                  </a:lnTo>
                  <a:lnTo>
                    <a:pt x="0" y="5532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634" r="0" b="-281185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9509760" cy="600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694">
                  <a:solidFill>
                    <a:srgbClr val="1E3A8A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KEY TAKEAWAYS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0282238" y="2189798"/>
            <a:ext cx="7141845" cy="1079373"/>
            <a:chOff x="0" y="0"/>
            <a:chExt cx="9522460" cy="143916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522460" cy="1439164"/>
            </a:xfrm>
            <a:custGeom>
              <a:avLst/>
              <a:gdLst/>
              <a:ahLst/>
              <a:cxnLst/>
              <a:rect r="r" b="b" t="t" l="l"/>
              <a:pathLst>
                <a:path h="1439164" w="9522460">
                  <a:moveTo>
                    <a:pt x="0" y="0"/>
                  </a:moveTo>
                  <a:lnTo>
                    <a:pt x="9522460" y="0"/>
                  </a:lnTo>
                  <a:lnTo>
                    <a:pt x="9522460" y="1439164"/>
                  </a:lnTo>
                  <a:lnTo>
                    <a:pt x="0" y="1439164"/>
                  </a:lnTo>
                  <a:close/>
                </a:path>
              </a:pathLst>
            </a:custGeom>
            <a:solidFill>
              <a:srgbClr val="FFFBEB"/>
            </a:solidFill>
            <a:ln w="9525" cap="sq">
              <a:solidFill>
                <a:srgbClr val="D97706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10492740" y="2441448"/>
            <a:ext cx="576072" cy="576072"/>
            <a:chOff x="0" y="0"/>
            <a:chExt cx="768096" cy="76809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D97706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0492740" y="2441448"/>
            <a:ext cx="576072" cy="576072"/>
            <a:chOff x="0" y="0"/>
            <a:chExt cx="768096" cy="76809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1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1247120" y="2263140"/>
            <a:ext cx="5966460" cy="411480"/>
            <a:chOff x="0" y="0"/>
            <a:chExt cx="7955280" cy="5486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955280" cy="548640"/>
            </a:xfrm>
            <a:custGeom>
              <a:avLst/>
              <a:gdLst/>
              <a:ahLst/>
              <a:cxnLst/>
              <a:rect r="r" b="b" t="t" l="l"/>
              <a:pathLst>
                <a:path h="548640" w="7955280">
                  <a:moveTo>
                    <a:pt x="0" y="0"/>
                  </a:moveTo>
                  <a:lnTo>
                    <a:pt x="7955280" y="0"/>
                  </a:lnTo>
                  <a:lnTo>
                    <a:pt x="7955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7955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D97706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Decoder &gt; Encoder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1247120" y="2674620"/>
            <a:ext cx="5966460" cy="548640"/>
            <a:chOff x="0" y="0"/>
            <a:chExt cx="7955280" cy="7315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955280" cy="731520"/>
            </a:xfrm>
            <a:custGeom>
              <a:avLst/>
              <a:gdLst/>
              <a:ahLst/>
              <a:cxnLst/>
              <a:rect r="r" b="b" t="t" l="l"/>
              <a:pathLst>
                <a:path h="731520" w="7955280">
                  <a:moveTo>
                    <a:pt x="0" y="0"/>
                  </a:moveTo>
                  <a:lnTo>
                    <a:pt x="7955280" y="0"/>
                  </a:lnTo>
                  <a:lnTo>
                    <a:pt x="7955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99" r="0" b="-161899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7955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0F172A"/>
                  </a:solidFill>
                  <a:latin typeface="Carlito"/>
                  <a:ea typeface="Carlito"/>
                  <a:cs typeface="Carlito"/>
                  <a:sym typeface="Carlito"/>
                </a:rPr>
                <a:t>MLP decoder adds +0.096 AUC over dot product — non-linear scoring is critical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0282238" y="3355658"/>
            <a:ext cx="7141845" cy="1079373"/>
            <a:chOff x="0" y="0"/>
            <a:chExt cx="9522460" cy="143916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522460" cy="1439164"/>
            </a:xfrm>
            <a:custGeom>
              <a:avLst/>
              <a:gdLst/>
              <a:ahLst/>
              <a:cxnLst/>
              <a:rect r="r" b="b" t="t" l="l"/>
              <a:pathLst>
                <a:path h="1439164" w="9522460">
                  <a:moveTo>
                    <a:pt x="0" y="0"/>
                  </a:moveTo>
                  <a:lnTo>
                    <a:pt x="9522460" y="0"/>
                  </a:lnTo>
                  <a:lnTo>
                    <a:pt x="9522460" y="1439164"/>
                  </a:lnTo>
                  <a:lnTo>
                    <a:pt x="0" y="1439164"/>
                  </a:lnTo>
                  <a:close/>
                </a:path>
              </a:pathLst>
            </a:custGeom>
            <a:solidFill>
              <a:srgbClr val="ECFDF5"/>
            </a:solidFill>
            <a:ln w="9525" cap="sq">
              <a:solidFill>
                <a:srgbClr val="059669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10492740" y="3607308"/>
            <a:ext cx="576072" cy="576072"/>
            <a:chOff x="0" y="0"/>
            <a:chExt cx="768096" cy="76809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059669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0492740" y="3607308"/>
            <a:ext cx="576072" cy="576072"/>
            <a:chOff x="0" y="0"/>
            <a:chExt cx="768096" cy="768096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2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1247120" y="3429000"/>
            <a:ext cx="5966460" cy="411480"/>
            <a:chOff x="0" y="0"/>
            <a:chExt cx="7955280" cy="54864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955280" cy="548640"/>
            </a:xfrm>
            <a:custGeom>
              <a:avLst/>
              <a:gdLst/>
              <a:ahLst/>
              <a:cxnLst/>
              <a:rect r="r" b="b" t="t" l="l"/>
              <a:pathLst>
                <a:path h="548640" w="7955280">
                  <a:moveTo>
                    <a:pt x="0" y="0"/>
                  </a:moveTo>
                  <a:lnTo>
                    <a:pt x="7955280" y="0"/>
                  </a:lnTo>
                  <a:lnTo>
                    <a:pt x="7955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7955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59669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GCN+MLP beats SOTA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1247120" y="3840480"/>
            <a:ext cx="5966460" cy="548640"/>
            <a:chOff x="0" y="0"/>
            <a:chExt cx="7955280" cy="73152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7955280" cy="731520"/>
            </a:xfrm>
            <a:custGeom>
              <a:avLst/>
              <a:gdLst/>
              <a:ahLst/>
              <a:cxnLst/>
              <a:rect r="r" b="b" t="t" l="l"/>
              <a:pathLst>
                <a:path h="731520" w="7955280">
                  <a:moveTo>
                    <a:pt x="0" y="0"/>
                  </a:moveTo>
                  <a:lnTo>
                    <a:pt x="7955280" y="0"/>
                  </a:lnTo>
                  <a:lnTo>
                    <a:pt x="7955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99" r="0" b="-161899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47625"/>
              <a:ext cx="7955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0F172A"/>
                  </a:solidFill>
                  <a:latin typeface="Carlito"/>
                  <a:ea typeface="Carlito"/>
                  <a:cs typeface="Carlito"/>
                  <a:sym typeface="Carlito"/>
                </a:rPr>
                <a:t>0.9675 vs EmerGNN 0.934 (+3.4 pp) with a simpler architecture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0282238" y="4521518"/>
            <a:ext cx="7141845" cy="1079373"/>
            <a:chOff x="0" y="0"/>
            <a:chExt cx="9522460" cy="1439164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9522460" cy="1439164"/>
            </a:xfrm>
            <a:custGeom>
              <a:avLst/>
              <a:gdLst/>
              <a:ahLst/>
              <a:cxnLst/>
              <a:rect r="r" b="b" t="t" l="l"/>
              <a:pathLst>
                <a:path h="1439164" w="9522460">
                  <a:moveTo>
                    <a:pt x="0" y="0"/>
                  </a:moveTo>
                  <a:lnTo>
                    <a:pt x="9522460" y="0"/>
                  </a:lnTo>
                  <a:lnTo>
                    <a:pt x="9522460" y="1439164"/>
                  </a:lnTo>
                  <a:lnTo>
                    <a:pt x="0" y="1439164"/>
                  </a:lnTo>
                  <a:close/>
                </a:path>
              </a:pathLst>
            </a:custGeom>
            <a:solidFill>
              <a:srgbClr val="EFF6FF"/>
            </a:solidFill>
            <a:ln w="9525" cap="sq">
              <a:solidFill>
                <a:srgbClr val="1E3A8A"/>
              </a:solidFill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10492740" y="4773168"/>
            <a:ext cx="576072" cy="576072"/>
            <a:chOff x="0" y="0"/>
            <a:chExt cx="768096" cy="76809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0492740" y="4773168"/>
            <a:ext cx="576072" cy="576072"/>
            <a:chOff x="0" y="0"/>
            <a:chExt cx="768096" cy="768096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3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1247120" y="4594860"/>
            <a:ext cx="5966460" cy="411480"/>
            <a:chOff x="0" y="0"/>
            <a:chExt cx="7955280" cy="54864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7955280" cy="548640"/>
            </a:xfrm>
            <a:custGeom>
              <a:avLst/>
              <a:gdLst/>
              <a:ahLst/>
              <a:cxnLst/>
              <a:rect r="r" b="b" t="t" l="l"/>
              <a:pathLst>
                <a:path h="548640" w="7955280">
                  <a:moveTo>
                    <a:pt x="0" y="0"/>
                  </a:moveTo>
                  <a:lnTo>
                    <a:pt x="7955280" y="0"/>
                  </a:lnTo>
                  <a:lnTo>
                    <a:pt x="7955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7955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E3A8A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2-layer GCN at d=64 is optimal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1247120" y="5006340"/>
            <a:ext cx="5966460" cy="548640"/>
            <a:chOff x="0" y="0"/>
            <a:chExt cx="7955280" cy="73152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7955280" cy="731520"/>
            </a:xfrm>
            <a:custGeom>
              <a:avLst/>
              <a:gdLst/>
              <a:ahLst/>
              <a:cxnLst/>
              <a:rect r="r" b="b" t="t" l="l"/>
              <a:pathLst>
                <a:path h="731520" w="7955280">
                  <a:moveTo>
                    <a:pt x="0" y="0"/>
                  </a:moveTo>
                  <a:lnTo>
                    <a:pt x="7955280" y="0"/>
                  </a:lnTo>
                  <a:lnTo>
                    <a:pt x="7955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99" r="0" b="-161899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47625"/>
              <a:ext cx="7955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0F172A"/>
                  </a:solidFill>
                  <a:latin typeface="Carlito"/>
                  <a:ea typeface="Carlito"/>
                  <a:cs typeface="Carlito"/>
                  <a:sym typeface="Carlito"/>
                </a:rPr>
                <a:t>3 layers → over-smoothing (−0.020); larger d → overfitting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0282238" y="5687378"/>
            <a:ext cx="7141845" cy="1079373"/>
            <a:chOff x="0" y="0"/>
            <a:chExt cx="9522460" cy="1439164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9522460" cy="1439164"/>
            </a:xfrm>
            <a:custGeom>
              <a:avLst/>
              <a:gdLst/>
              <a:ahLst/>
              <a:cxnLst/>
              <a:rect r="r" b="b" t="t" l="l"/>
              <a:pathLst>
                <a:path h="1439164" w="9522460">
                  <a:moveTo>
                    <a:pt x="0" y="0"/>
                  </a:moveTo>
                  <a:lnTo>
                    <a:pt x="9522460" y="0"/>
                  </a:lnTo>
                  <a:lnTo>
                    <a:pt x="9522460" y="1439164"/>
                  </a:lnTo>
                  <a:lnTo>
                    <a:pt x="0" y="1439164"/>
                  </a:lnTo>
                  <a:close/>
                </a:path>
              </a:pathLst>
            </a:custGeom>
            <a:solidFill>
              <a:srgbClr val="ECFEFF"/>
            </a:solidFill>
            <a:ln w="9525" cap="sq">
              <a:solidFill>
                <a:srgbClr val="0891B2"/>
              </a:solidFill>
              <a:prstDash val="solid"/>
              <a:miter/>
            </a:ln>
          </p:spPr>
        </p:sp>
      </p:grpSp>
      <p:grpSp>
        <p:nvGrpSpPr>
          <p:cNvPr name="Group 108" id="108"/>
          <p:cNvGrpSpPr/>
          <p:nvPr/>
        </p:nvGrpSpPr>
        <p:grpSpPr>
          <a:xfrm rot="0">
            <a:off x="10492740" y="5939028"/>
            <a:ext cx="576072" cy="576072"/>
            <a:chOff x="0" y="0"/>
            <a:chExt cx="768096" cy="768096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0492740" y="5939028"/>
            <a:ext cx="576072" cy="576072"/>
            <a:chOff x="0" y="0"/>
            <a:chExt cx="768096" cy="768096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4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1247120" y="5760720"/>
            <a:ext cx="5966460" cy="411480"/>
            <a:chOff x="0" y="0"/>
            <a:chExt cx="7955280" cy="54864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7955280" cy="548640"/>
            </a:xfrm>
            <a:custGeom>
              <a:avLst/>
              <a:gdLst/>
              <a:ahLst/>
              <a:cxnLst/>
              <a:rect r="r" b="b" t="t" l="l"/>
              <a:pathLst>
                <a:path h="548640" w="7955280">
                  <a:moveTo>
                    <a:pt x="0" y="0"/>
                  </a:moveTo>
                  <a:lnTo>
                    <a:pt x="7955280" y="0"/>
                  </a:lnTo>
                  <a:lnTo>
                    <a:pt x="7955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7955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891B2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Graph topology enables OOD robustness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1247120" y="6172200"/>
            <a:ext cx="5966460" cy="548640"/>
            <a:chOff x="0" y="0"/>
            <a:chExt cx="7955280" cy="73152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7955280" cy="731520"/>
            </a:xfrm>
            <a:custGeom>
              <a:avLst/>
              <a:gdLst/>
              <a:ahLst/>
              <a:cxnLst/>
              <a:rect r="r" b="b" t="t" l="l"/>
              <a:pathLst>
                <a:path h="731520" w="7955280">
                  <a:moveTo>
                    <a:pt x="0" y="0"/>
                  </a:moveTo>
                  <a:lnTo>
                    <a:pt x="7955280" y="0"/>
                  </a:lnTo>
                  <a:lnTo>
                    <a:pt x="7955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99" r="0" b="-161899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47625"/>
              <a:ext cx="7955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0F172A"/>
                  </a:solidFill>
                  <a:latin typeface="Carlito"/>
                  <a:ea typeface="Carlito"/>
                  <a:cs typeface="Carlito"/>
                  <a:sym typeface="Carlito"/>
                </a:rPr>
                <a:t>GCN uses seen-neighbour context; MLP cannot generalise to new drugs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0282238" y="6853238"/>
            <a:ext cx="7141845" cy="1079373"/>
            <a:chOff x="0" y="0"/>
            <a:chExt cx="9522460" cy="1439164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9522460" cy="1439164"/>
            </a:xfrm>
            <a:custGeom>
              <a:avLst/>
              <a:gdLst/>
              <a:ahLst/>
              <a:cxnLst/>
              <a:rect r="r" b="b" t="t" l="l"/>
              <a:pathLst>
                <a:path h="1439164" w="9522460">
                  <a:moveTo>
                    <a:pt x="0" y="0"/>
                  </a:moveTo>
                  <a:lnTo>
                    <a:pt x="9522460" y="0"/>
                  </a:lnTo>
                  <a:lnTo>
                    <a:pt x="9522460" y="1439164"/>
                  </a:lnTo>
                  <a:lnTo>
                    <a:pt x="0" y="1439164"/>
                  </a:lnTo>
                  <a:close/>
                </a:path>
              </a:pathLst>
            </a:custGeom>
            <a:solidFill>
              <a:srgbClr val="ECFDF5"/>
            </a:solidFill>
            <a:ln w="9525" cap="sq">
              <a:solidFill>
                <a:srgbClr val="059669"/>
              </a:solidFill>
              <a:prstDash val="solid"/>
              <a:miter/>
            </a:ln>
          </p:spPr>
        </p:sp>
      </p:grpSp>
      <p:grpSp>
        <p:nvGrpSpPr>
          <p:cNvPr name="Group 121" id="121"/>
          <p:cNvGrpSpPr/>
          <p:nvPr/>
        </p:nvGrpSpPr>
        <p:grpSpPr>
          <a:xfrm rot="0">
            <a:off x="10492740" y="7104888"/>
            <a:ext cx="576072" cy="576072"/>
            <a:chOff x="0" y="0"/>
            <a:chExt cx="768096" cy="768096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059669"/>
            </a:solid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10492740" y="7104888"/>
            <a:ext cx="576072" cy="576072"/>
            <a:chOff x="0" y="0"/>
            <a:chExt cx="768096" cy="768096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5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11247120" y="6926580"/>
            <a:ext cx="5966460" cy="411480"/>
            <a:chOff x="0" y="0"/>
            <a:chExt cx="7955280" cy="54864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7955280" cy="548640"/>
            </a:xfrm>
            <a:custGeom>
              <a:avLst/>
              <a:gdLst/>
              <a:ahLst/>
              <a:cxnLst/>
              <a:rect r="r" b="b" t="t" l="l"/>
              <a:pathLst>
                <a:path h="548640" w="7955280">
                  <a:moveTo>
                    <a:pt x="0" y="0"/>
                  </a:moveTo>
                  <a:lnTo>
                    <a:pt x="7955280" y="0"/>
                  </a:lnTo>
                  <a:lnTo>
                    <a:pt x="7955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38100"/>
              <a:ext cx="7955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59669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Well-calibrated + uncertainty-aware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11247120" y="7338060"/>
            <a:ext cx="5966460" cy="548640"/>
            <a:chOff x="0" y="0"/>
            <a:chExt cx="7955280" cy="73152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7955280" cy="731520"/>
            </a:xfrm>
            <a:custGeom>
              <a:avLst/>
              <a:gdLst/>
              <a:ahLst/>
              <a:cxnLst/>
              <a:rect r="r" b="b" t="t" l="l"/>
              <a:pathLst>
                <a:path h="731520" w="7955280">
                  <a:moveTo>
                    <a:pt x="0" y="0"/>
                  </a:moveTo>
                  <a:lnTo>
                    <a:pt x="7955280" y="0"/>
                  </a:lnTo>
                  <a:lnTo>
                    <a:pt x="7955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99" r="0" b="-161899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47625"/>
              <a:ext cx="7955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0F172A"/>
                  </a:solidFill>
                  <a:latin typeface="Carlito"/>
                  <a:ea typeface="Carlito"/>
                  <a:cs typeface="Carlito"/>
                  <a:sym typeface="Carlito"/>
                </a:rPr>
                <a:t>ECE = 0.016 · MC Dropout flags risky OOD pairs at deployment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10287000" y="8298180"/>
            <a:ext cx="7132320" cy="1371600"/>
            <a:chOff x="0" y="0"/>
            <a:chExt cx="9509760" cy="1828800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95097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B1220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10561320" y="8503920"/>
            <a:ext cx="6583680" cy="414957"/>
            <a:chOff x="0" y="0"/>
            <a:chExt cx="8778240" cy="553276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8778240" cy="553276"/>
            </a:xfrm>
            <a:custGeom>
              <a:avLst/>
              <a:gdLst/>
              <a:ahLst/>
              <a:cxnLst/>
              <a:rect r="r" b="b" t="t" l="l"/>
              <a:pathLst>
                <a:path h="553276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553276"/>
                  </a:lnTo>
                  <a:lnTo>
                    <a:pt x="0" y="5532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7830" r="0" b="-250465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47625"/>
              <a:ext cx="8778240" cy="6009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733">
                  <a:solidFill>
                    <a:srgbClr val="94A3B8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CODE &amp; REPORT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0561320" y="8874252"/>
            <a:ext cx="6583680" cy="617220"/>
            <a:chOff x="0" y="0"/>
            <a:chExt cx="8778240" cy="82296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8778240" cy="822960"/>
            </a:xfrm>
            <a:custGeom>
              <a:avLst/>
              <a:gdLst/>
              <a:ahLst/>
              <a:cxnLst/>
              <a:rect r="r" b="b" t="t" l="l"/>
              <a:pathLst>
                <a:path h="82296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840" r="0" b="-157840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38100"/>
              <a:ext cx="877824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u="sng">
                  <a:solidFill>
                    <a:srgbClr val="3B82F6"/>
                  </a:solidFill>
                  <a:latin typeface="Carlito Bold"/>
                  <a:ea typeface="Carlito Bold"/>
                  <a:cs typeface="Carlito Bold"/>
                  <a:sym typeface="Carlito Bold"/>
                  <a:hlinkClick r:id="rId4" tooltip="https://github.com/usmanbinnaeem/dl-proj"/>
                </a:rPr>
                <a:t>github.com/usmanbinnaeem/dl-proj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960120"/>
            <a:ext cx="192024" cy="192024"/>
            <a:chOff x="0" y="0"/>
            <a:chExt cx="256032" cy="2560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99032" y="960120"/>
            <a:ext cx="192024" cy="192024"/>
            <a:chOff x="0" y="0"/>
            <a:chExt cx="256032" cy="25603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37944" y="960120"/>
            <a:ext cx="192024" cy="192024"/>
            <a:chOff x="0" y="0"/>
            <a:chExt cx="256032" cy="25603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698480" y="1028700"/>
            <a:ext cx="6583680" cy="411480"/>
            <a:chOff x="0" y="0"/>
            <a:chExt cx="877824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778240" cy="548640"/>
            </a:xfrm>
            <a:custGeom>
              <a:avLst/>
              <a:gdLst/>
              <a:ahLst/>
              <a:cxnLst/>
              <a:rect r="r" b="b" t="t" l="l"/>
              <a:pathLst>
                <a:path h="54864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77824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b="true" sz="1500" spc="600">
                  <a:solidFill>
                    <a:srgbClr val="94A3B8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AI-600 · PROJECT #10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3703320"/>
            <a:ext cx="18242280" cy="2558021"/>
            <a:chOff x="0" y="0"/>
            <a:chExt cx="24323040" cy="341069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323039" cy="3410694"/>
            </a:xfrm>
            <a:custGeom>
              <a:avLst/>
              <a:gdLst/>
              <a:ahLst/>
              <a:cxnLst/>
              <a:rect r="r" b="b" t="t" l="l"/>
              <a:pathLst>
                <a:path h="3410694" w="24323039">
                  <a:moveTo>
                    <a:pt x="0" y="0"/>
                  </a:moveTo>
                  <a:lnTo>
                    <a:pt x="24323039" y="0"/>
                  </a:lnTo>
                  <a:lnTo>
                    <a:pt x="24323039" y="3410694"/>
                  </a:lnTo>
                  <a:lnTo>
                    <a:pt x="0" y="34106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421" r="0" b="-7648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0"/>
              <a:ext cx="24323040" cy="36964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0"/>
                </a:lnSpc>
              </a:pPr>
              <a:r>
                <a:rPr lang="en-US" sz="13500" b="true">
                  <a:solidFill>
                    <a:srgbClr val="F1F5F9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Thank You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0" y="5760720"/>
            <a:ext cx="18242280" cy="685800"/>
            <a:chOff x="0" y="0"/>
            <a:chExt cx="2432304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323039" cy="914400"/>
            </a:xfrm>
            <a:custGeom>
              <a:avLst/>
              <a:gdLst/>
              <a:ahLst/>
              <a:cxnLst/>
              <a:rect r="r" b="b" t="t" l="l"/>
              <a:pathLst>
                <a:path h="914400" w="24323039">
                  <a:moveTo>
                    <a:pt x="0" y="0"/>
                  </a:moveTo>
                  <a:lnTo>
                    <a:pt x="24323039" y="0"/>
                  </a:lnTo>
                  <a:lnTo>
                    <a:pt x="2432303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8302" r="0" b="-46830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2432304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i="true">
                  <a:solidFill>
                    <a:srgbClr val="3B82F6"/>
                  </a:solidFill>
                  <a:latin typeface="Carlito Italics"/>
                  <a:ea typeface="Carlito Italics"/>
                  <a:cs typeface="Carlito Italics"/>
                  <a:sym typeface="Carlito Italics"/>
                </a:rPr>
                <a:t>Questions &amp; Discussion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429000" y="7406640"/>
            <a:ext cx="11384280" cy="54864"/>
            <a:chOff x="0" y="0"/>
            <a:chExt cx="15179040" cy="731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179039" cy="73152"/>
            </a:xfrm>
            <a:custGeom>
              <a:avLst/>
              <a:gdLst/>
              <a:ahLst/>
              <a:cxnLst/>
              <a:rect r="r" b="b" t="t" l="l"/>
              <a:pathLst>
                <a:path h="73152" w="15179039">
                  <a:moveTo>
                    <a:pt x="0" y="0"/>
                  </a:moveTo>
                  <a:lnTo>
                    <a:pt x="15179039" y="0"/>
                  </a:lnTo>
                  <a:lnTo>
                    <a:pt x="15179039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0" y="7680960"/>
            <a:ext cx="18242280" cy="548640"/>
            <a:chOff x="0" y="0"/>
            <a:chExt cx="2432304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323039" cy="731520"/>
            </a:xfrm>
            <a:custGeom>
              <a:avLst/>
              <a:gdLst/>
              <a:ahLst/>
              <a:cxnLst/>
              <a:rect r="r" b="b" t="t" l="l"/>
              <a:pathLst>
                <a:path h="731520" w="24323039">
                  <a:moveTo>
                    <a:pt x="0" y="0"/>
                  </a:moveTo>
                  <a:lnTo>
                    <a:pt x="24323039" y="0"/>
                  </a:lnTo>
                  <a:lnTo>
                    <a:pt x="243230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877" r="0" b="-59787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24323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1F5F9"/>
                  </a:solidFill>
                  <a:latin typeface="Carlito"/>
                  <a:ea typeface="Carlito"/>
                  <a:cs typeface="Carlito"/>
                  <a:sym typeface="Carlito"/>
                </a:rPr>
                <a:t>Usman Naeem  ·  Sarmad Ali  ·  Hammad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0" y="8298180"/>
            <a:ext cx="18242280" cy="411480"/>
            <a:chOff x="0" y="0"/>
            <a:chExt cx="2432304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4323039" cy="548640"/>
            </a:xfrm>
            <a:custGeom>
              <a:avLst/>
              <a:gdLst/>
              <a:ahLst/>
              <a:cxnLst/>
              <a:rect r="r" b="b" t="t" l="l"/>
              <a:pathLst>
                <a:path h="548640" w="24323039">
                  <a:moveTo>
                    <a:pt x="0" y="0"/>
                  </a:moveTo>
                  <a:lnTo>
                    <a:pt x="24323039" y="0"/>
                  </a:lnTo>
                  <a:lnTo>
                    <a:pt x="243230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3836" r="0" b="-81383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432304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u="sng">
                  <a:solidFill>
                    <a:srgbClr val="94A3B8"/>
                  </a:solidFill>
                  <a:latin typeface="Carlito"/>
                  <a:ea typeface="Carlito"/>
                  <a:cs typeface="Carlito"/>
                  <a:sym typeface="Carlito"/>
                  <a:hlinkClick r:id="rId4" tooltip="https://github.com/usmanbinnaeem/dl-proj"/>
                </a:rPr>
                <a:t>github.com/usmanbinnaeem/dl-proj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DAHKIqpetN8</dc:identifier>
  <dcterms:modified xsi:type="dcterms:W3CDTF">2011-08-01T06:04:30Z</dcterms:modified>
  <cp:revision>1</cp:revision>
  <dc:title>GNN DDI Prediction</dc:title>
</cp:coreProperties>
</file>